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22"/>
  </p:notesMasterIdLst>
  <p:sldIdLst>
    <p:sldId id="257" r:id="rId3"/>
    <p:sldId id="258" r:id="rId4"/>
    <p:sldId id="259" r:id="rId5"/>
    <p:sldId id="260" r:id="rId6"/>
    <p:sldId id="261" r:id="rId7"/>
    <p:sldId id="262" r:id="rId8"/>
    <p:sldId id="263" r:id="rId9"/>
    <p:sldId id="264" r:id="rId10"/>
    <p:sldId id="265" r:id="rId11"/>
    <p:sldId id="266" r:id="rId12"/>
    <p:sldId id="273" r:id="rId13"/>
    <p:sldId id="274" r:id="rId14"/>
    <p:sldId id="275" r:id="rId15"/>
    <p:sldId id="276" r:id="rId16"/>
    <p:sldId id="267"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AA033-4EE1-4B67-8C3A-CD93B733EA3D}"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DC8B0-D19E-4B98-9E54-F46C98145BD3}" type="slidenum">
              <a:rPr lang="en-US" smtClean="0"/>
              <a:t>‹#›</a:t>
            </a:fld>
            <a:endParaRPr lang="en-US"/>
          </a:p>
        </p:txBody>
      </p:sp>
    </p:spTree>
    <p:extLst>
      <p:ext uri="{BB962C8B-B14F-4D97-AF65-F5344CB8AC3E}">
        <p14:creationId xmlns:p14="http://schemas.microsoft.com/office/powerpoint/2010/main" val="4280041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a:t>
            </a:r>
            <a:r>
              <a:rPr lang="en-US" dirty="0"/>
              <a:t>My presentation subject is Library Management System, but I redesigned it as Neo Library : a futuristic C++ based smart library platform. The goal is not only to manage books, but also to show how a traditional console application can be extended toward AI recommendations, smart shelves, analytics, and digital library automation.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structure of my presentation. I will start with the problem, then present my concept, then show the C++ system design, then the unique futuristic features, and finally explain future improvements and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library systems can store book information, but they usually do not feel intelligent. My system addresses common issues such as slow search, manual tracking, limited insights, and no recommendation support.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implemented as a C++ console application, but the presentation concept imagines it as a future smart library platform. The implemented system covers book management, members, borrowing, returning, history, recommendation, and analytics.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to apply C++ programming concepts to a realistic management system. I focused on modular design, object-oriented programming, file handling, exception handling, search, borrowing and returning, and future-oriented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shows how the user interacts with the menu, and the menu calls the LibrarySystem class. The LibrarySystem controls books, members, records, recommendation, analytics, and file storage.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project directly to C++ learning outcomes. The code uses separate files, classes, constructors, vectors, file streams, exception handling, and functions for each operation.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object-oriented design. Book stores item details, Member stores user details, BorrowRecord stores actions, and LibrarySystem manages the complete workflow.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borrow and return process is designed to prevent invalid operations. The system checks both book ID and member ID, checks availability, updates the book status, updates the member count, creates a record, and saves all files.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exotic and futuristic part. The implemented prototype includes recommendations and analytics; the future vision adds QR checkout, smart shelves, digital twins, and cloud sync.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t>
            </a:r>
            <a:r>
              <a:rPr lang="en-US" b="1" dirty="0"/>
              <a:t>Main.cpp</a:t>
            </a:r>
            <a:r>
              <a:rPr lang="en-US" dirty="0"/>
              <a:t> file, which is the entry point of my Library Management System.</a:t>
            </a:r>
          </a:p>
          <a:p>
            <a:r>
              <a:rPr lang="en-US" dirty="0"/>
              <a:t>First, the program includes the </a:t>
            </a:r>
            <a:r>
              <a:rPr lang="en-US" sz="1200" kern="1200" dirty="0" err="1">
                <a:solidFill>
                  <a:schemeClr val="tx1"/>
                </a:solidFill>
                <a:latin typeface="+mn-lt"/>
                <a:ea typeface="+mn-ea"/>
                <a:cs typeface="+mn-cs"/>
              </a:rPr>
              <a:t>Header.h</a:t>
            </a:r>
            <a:r>
              <a:rPr lang="en-US" dirty="0"/>
              <a:t> file, where all classes and function declarations are stored.</a:t>
            </a:r>
          </a:p>
          <a:p>
            <a:r>
              <a:rPr lang="en-US" dirty="0"/>
              <a:t>Next, it creates an object of the </a:t>
            </a:r>
            <a:r>
              <a:rPr lang="en-US" sz="1200" kern="1200" dirty="0" err="1">
                <a:solidFill>
                  <a:schemeClr val="tx1"/>
                </a:solidFill>
                <a:latin typeface="+mn-lt"/>
                <a:ea typeface="+mn-ea"/>
                <a:cs typeface="+mn-cs"/>
              </a:rPr>
              <a:t>LibrarySystem</a:t>
            </a:r>
            <a:r>
              <a:rPr lang="en-US" dirty="0"/>
              <a:t> class and connects it with three data files: </a:t>
            </a:r>
            <a:r>
              <a:rPr lang="en-US" sz="1200" kern="1200" dirty="0">
                <a:solidFill>
                  <a:schemeClr val="tx1"/>
                </a:solidFill>
                <a:latin typeface="+mn-lt"/>
                <a:ea typeface="+mn-ea"/>
                <a:cs typeface="+mn-cs"/>
              </a:rPr>
              <a:t>books.txt</a:t>
            </a:r>
            <a:r>
              <a:rPr lang="en-US" dirty="0"/>
              <a:t>, </a:t>
            </a:r>
            <a:r>
              <a:rPr lang="en-US" sz="1200" kern="1200" dirty="0">
                <a:solidFill>
                  <a:schemeClr val="tx1"/>
                </a:solidFill>
                <a:latin typeface="+mn-lt"/>
                <a:ea typeface="+mn-ea"/>
                <a:cs typeface="+mn-cs"/>
              </a:rPr>
              <a:t>members.txt</a:t>
            </a:r>
            <a:r>
              <a:rPr lang="en-US" dirty="0"/>
              <a:t>, and </a:t>
            </a:r>
            <a:r>
              <a:rPr lang="en-US" sz="1200" kern="1200" dirty="0">
                <a:solidFill>
                  <a:schemeClr val="tx1"/>
                </a:solidFill>
                <a:latin typeface="+mn-lt"/>
                <a:ea typeface="+mn-ea"/>
                <a:cs typeface="+mn-cs"/>
              </a:rPr>
              <a:t>records.txt</a:t>
            </a:r>
            <a:r>
              <a:rPr lang="en-US" dirty="0"/>
              <a:t>.</a:t>
            </a:r>
          </a:p>
          <a:p>
            <a:r>
              <a:rPr lang="en-US" dirty="0"/>
              <a:t>Finally, the program calls the </a:t>
            </a:r>
            <a:r>
              <a:rPr lang="en-US" sz="1200" kern="1200" dirty="0" err="1">
                <a:solidFill>
                  <a:schemeClr val="tx1"/>
                </a:solidFill>
                <a:latin typeface="+mn-lt"/>
                <a:ea typeface="+mn-ea"/>
                <a:cs typeface="+mn-cs"/>
              </a:rPr>
              <a:t>system.run</a:t>
            </a:r>
            <a:r>
              <a:rPr lang="en-US" sz="1200" kern="1200" dirty="0">
                <a:solidFill>
                  <a:schemeClr val="tx1"/>
                </a:solidFill>
                <a:latin typeface="+mn-lt"/>
                <a:ea typeface="+mn-ea"/>
                <a:cs typeface="+mn-cs"/>
              </a:rPr>
              <a:t>()</a:t>
            </a:r>
            <a:r>
              <a:rPr lang="en-US" dirty="0"/>
              <a:t> function, which starts the complete menu-driven application. From this point, the user can access all the library features such as adding books, searching books, borrowing, returning, and viewing reports.</a:t>
            </a:r>
          </a:p>
          <a:p>
            <a:r>
              <a:rPr lang="en-US" dirty="0"/>
              <a:t>Although the code is simple, it acts as the controller that starts the entire system."</a:t>
            </a:r>
          </a:p>
          <a:p>
            <a:endParaRPr lang="en-US" dirty="0"/>
          </a:p>
        </p:txBody>
      </p:sp>
      <p:sp>
        <p:nvSpPr>
          <p:cNvPr id="4" name="Slide Number Placeholder 3"/>
          <p:cNvSpPr>
            <a:spLocks noGrp="1"/>
          </p:cNvSpPr>
          <p:nvPr>
            <p:ph type="sldNum" sz="quarter" idx="5"/>
          </p:nvPr>
        </p:nvSpPr>
        <p:spPr/>
        <p:txBody>
          <a:bodyPr/>
          <a:lstStyle/>
          <a:p>
            <a:fld id="{F4EDC8B0-D19E-4B98-9E54-F46C98145BD3}" type="slidenum">
              <a:rPr lang="en-US" smtClean="0"/>
              <a:t>11</a:t>
            </a:fld>
            <a:endParaRPr lang="en-US"/>
          </a:p>
        </p:txBody>
      </p:sp>
    </p:spTree>
    <p:extLst>
      <p:ext uri="{BB962C8B-B14F-4D97-AF65-F5344CB8AC3E}">
        <p14:creationId xmlns:p14="http://schemas.microsoft.com/office/powerpoint/2010/main" val="2699609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part of the </a:t>
            </a:r>
            <a:r>
              <a:rPr lang="en-US" b="1" dirty="0"/>
              <a:t>Implement.cpp</a:t>
            </a:r>
            <a:r>
              <a:rPr lang="en-US" dirty="0"/>
              <a:t> file, where the main business logic is written.</a:t>
            </a:r>
          </a:p>
          <a:p>
            <a:r>
              <a:rPr lang="en-US" dirty="0"/>
              <a:t>The first function is </a:t>
            </a:r>
            <a:r>
              <a:rPr lang="en-US" b="1" dirty="0"/>
              <a:t>Add Book</a:t>
            </a:r>
            <a:r>
              <a:rPr lang="en-US" dirty="0"/>
              <a:t>, which receives book information from the user, creates a new Book object, stores it in a vector, and saves it permanently into the text file.</a:t>
            </a:r>
          </a:p>
          <a:p>
            <a:r>
              <a:rPr lang="en-US" dirty="0"/>
              <a:t>The second function is </a:t>
            </a:r>
            <a:r>
              <a:rPr lang="en-US" b="1" dirty="0"/>
              <a:t>Borrow Book</a:t>
            </a:r>
            <a:r>
              <a:rPr lang="en-US" dirty="0"/>
              <a:t>. It checks whether the selected book is available. If it is available, the system changes its status to borrowed, increases the borrow count, updates the member's borrowing record, and saves all changes into the corresponding files.</a:t>
            </a:r>
          </a:p>
          <a:p>
            <a:r>
              <a:rPr lang="en-US" dirty="0"/>
              <a:t>These functions demonstrate file handling, object-oriented programming, and data management working together."</a:t>
            </a:r>
          </a:p>
          <a:p>
            <a:endParaRPr lang="en-US" dirty="0"/>
          </a:p>
        </p:txBody>
      </p:sp>
      <p:sp>
        <p:nvSpPr>
          <p:cNvPr id="4" name="Slide Number Placeholder 3"/>
          <p:cNvSpPr>
            <a:spLocks noGrp="1"/>
          </p:cNvSpPr>
          <p:nvPr>
            <p:ph type="sldNum" sz="quarter" idx="5"/>
          </p:nvPr>
        </p:nvSpPr>
        <p:spPr/>
        <p:txBody>
          <a:bodyPr/>
          <a:lstStyle/>
          <a:p>
            <a:fld id="{F4EDC8B0-D19E-4B98-9E54-F46C98145BD3}" type="slidenum">
              <a:rPr lang="en-US" smtClean="0"/>
              <a:t>12</a:t>
            </a:fld>
            <a:endParaRPr lang="en-US"/>
          </a:p>
        </p:txBody>
      </p:sp>
    </p:spTree>
    <p:extLst>
      <p:ext uri="{BB962C8B-B14F-4D97-AF65-F5344CB8AC3E}">
        <p14:creationId xmlns:p14="http://schemas.microsoft.com/office/powerpoint/2010/main" val="106014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a:t>
            </a:r>
            <a:r>
              <a:rPr lang="en-US" b="1" dirty="0"/>
              <a:t>Analytics Dashboard</a:t>
            </a:r>
            <a:r>
              <a:rPr lang="en-US" dirty="0"/>
              <a:t> function.</a:t>
            </a:r>
          </a:p>
          <a:p>
            <a:r>
              <a:rPr lang="en-US" dirty="0"/>
              <a:t>Instead of simply storing information, my system also generates useful statistics.</a:t>
            </a:r>
          </a:p>
          <a:p>
            <a:r>
              <a:rPr lang="en-US" dirty="0"/>
              <a:t>It calculates the total number of books, available books, borrowed books, registered members, and total transactions.</a:t>
            </a:r>
          </a:p>
          <a:p>
            <a:r>
              <a:rPr lang="en-US" dirty="0"/>
              <a:t>This feature gives librarians a quick overview of the current library status and helps them monitor library activities more efficiently.</a:t>
            </a:r>
          </a:p>
          <a:p>
            <a:r>
              <a:rPr lang="en-US" dirty="0"/>
              <a:t>It demonstrates how data collected by the system can be transformed into meaningful information for decision-making."</a:t>
            </a:r>
          </a:p>
          <a:p>
            <a:endParaRPr lang="en-US" dirty="0"/>
          </a:p>
        </p:txBody>
      </p:sp>
      <p:sp>
        <p:nvSpPr>
          <p:cNvPr id="4" name="Slide Number Placeholder 3"/>
          <p:cNvSpPr>
            <a:spLocks noGrp="1"/>
          </p:cNvSpPr>
          <p:nvPr>
            <p:ph type="sldNum" sz="quarter" idx="5"/>
          </p:nvPr>
        </p:nvSpPr>
        <p:spPr/>
        <p:txBody>
          <a:bodyPr/>
          <a:lstStyle/>
          <a:p>
            <a:fld id="{F4EDC8B0-D19E-4B98-9E54-F46C98145BD3}" type="slidenum">
              <a:rPr lang="en-US" smtClean="0"/>
              <a:t>13</a:t>
            </a:fld>
            <a:endParaRPr lang="en-US"/>
          </a:p>
        </p:txBody>
      </p:sp>
    </p:spTree>
    <p:extLst>
      <p:ext uri="{BB962C8B-B14F-4D97-AF65-F5344CB8AC3E}">
        <p14:creationId xmlns:p14="http://schemas.microsoft.com/office/powerpoint/2010/main" val="3812075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a:t>
            </a:r>
            <a:r>
              <a:rPr lang="en-US" b="1" dirty="0" err="1"/>
              <a:t>Header.h</a:t>
            </a:r>
            <a:r>
              <a:rPr lang="en-US" dirty="0"/>
              <a:t> file, which contains the overall design of my system.</a:t>
            </a:r>
          </a:p>
          <a:p>
            <a:r>
              <a:rPr lang="en-US" dirty="0"/>
              <a:t>I have applied Object-Oriented Programming by dividing the system into five separate classes.</a:t>
            </a:r>
          </a:p>
          <a:p>
            <a:r>
              <a:rPr lang="en-US" dirty="0"/>
              <a:t>The </a:t>
            </a:r>
            <a:r>
              <a:rPr lang="en-US" b="1" dirty="0"/>
              <a:t>Book</a:t>
            </a:r>
            <a:r>
              <a:rPr lang="en-US" dirty="0"/>
              <a:t> class stores book information, the </a:t>
            </a:r>
            <a:r>
              <a:rPr lang="en-US" b="1" dirty="0"/>
              <a:t>Member</a:t>
            </a:r>
            <a:r>
              <a:rPr lang="en-US" dirty="0"/>
              <a:t> class manages member details, and the </a:t>
            </a:r>
            <a:r>
              <a:rPr lang="en-US" b="1" dirty="0" err="1"/>
              <a:t>BorrowRecord</a:t>
            </a:r>
            <a:r>
              <a:rPr lang="en-US" dirty="0"/>
              <a:t> class keeps every borrowing and returning transaction.</a:t>
            </a:r>
          </a:p>
          <a:p>
            <a:r>
              <a:rPr lang="en-US" dirty="0"/>
              <a:t>The </a:t>
            </a:r>
            <a:r>
              <a:rPr lang="en-US" b="1" dirty="0" err="1"/>
              <a:t>SmartRecommender</a:t>
            </a:r>
            <a:r>
              <a:rPr lang="en-US" dirty="0"/>
              <a:t> class provides intelligent book recommendations based on category and popularity.</a:t>
            </a:r>
          </a:p>
          <a:p>
            <a:r>
              <a:rPr lang="en-US" dirty="0"/>
              <a:t>Finally, the </a:t>
            </a:r>
            <a:r>
              <a:rPr lang="en-US" b="1" dirty="0" err="1"/>
              <a:t>LibrarySystem</a:t>
            </a:r>
            <a:r>
              <a:rPr lang="en-US" dirty="0"/>
              <a:t> class controls the complete workflow of the application.</a:t>
            </a:r>
          </a:p>
          <a:p>
            <a:r>
              <a:rPr lang="en-US" dirty="0"/>
              <a:t>This modular design makes the program easier to maintain, expand, and reuse in the future."</a:t>
            </a:r>
          </a:p>
          <a:p>
            <a:endParaRPr lang="en-US" dirty="0"/>
          </a:p>
        </p:txBody>
      </p:sp>
      <p:sp>
        <p:nvSpPr>
          <p:cNvPr id="4" name="Slide Number Placeholder 3"/>
          <p:cNvSpPr>
            <a:spLocks noGrp="1"/>
          </p:cNvSpPr>
          <p:nvPr>
            <p:ph type="sldNum" sz="quarter" idx="5"/>
          </p:nvPr>
        </p:nvSpPr>
        <p:spPr/>
        <p:txBody>
          <a:bodyPr/>
          <a:lstStyle/>
          <a:p>
            <a:fld id="{F4EDC8B0-D19E-4B98-9E54-F46C98145BD3}" type="slidenum">
              <a:rPr lang="en-US" smtClean="0"/>
              <a:t>14</a:t>
            </a:fld>
            <a:endParaRPr lang="en-US"/>
          </a:p>
        </p:txBody>
      </p:sp>
    </p:spTree>
    <p:extLst>
      <p:ext uri="{BB962C8B-B14F-4D97-AF65-F5344CB8AC3E}">
        <p14:creationId xmlns:p14="http://schemas.microsoft.com/office/powerpoint/2010/main" val="4010003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live demo, I will show the main menu. I can add a book, list all books, search, borrow, return, show history, show recommendations, and show analytics dashboard.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handling improves reliability. If a user enters an invalid book ID, invalid member ID, tries to borrow an already borrowed book, or returns a book already in the library, the system displays a clear error instead of crashing.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involve the audience, I will ask which future feature they would prefer in their university library. This connects directly to the innovative presentation style criterion.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system is a strong console-based foundation. In the future it can be improved with database storage, GUI, admin login, barcode scanner, QR checkout, AI recommendation model, and online member portal.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shows how a library management system can be more than ordinary CRUD. It demonstrates C++ OOP, file handling, vectors, functions, exception handling, and modular design, while also presenting a future vision with AI recommendations, analytics, and smart shelves.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365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6563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373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565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6742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02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1803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2076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5785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9677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8945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73266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669664"/>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6005052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685800" y="914400"/>
            <a:ext cx="6949440" cy="658368"/>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Neo Library</a:t>
            </a:r>
            <a:endParaRPr kumimoji="0" lang="en-US" sz="44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731520" y="1691640"/>
            <a:ext cx="6675120"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1D9F6"/>
                </a:solidFill>
                <a:effectLst/>
                <a:uLnTx/>
                <a:uFillTx/>
                <a:latin typeface="Aptos"/>
                <a:ea typeface="+mn-ea"/>
                <a:cs typeface="+mn-cs"/>
              </a:rPr>
              <a:t>A futuristic Library Management System built in C++</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731520" y="2148840"/>
            <a:ext cx="5943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B9C8D6"/>
                </a:solidFill>
                <a:effectLst/>
                <a:uLnTx/>
                <a:uFillTx/>
                <a:latin typeface="Aptos"/>
                <a:ea typeface="+mn-ea"/>
                <a:cs typeface="+mn-cs"/>
              </a:rPr>
              <a:t>Final Presentation • Computer Programming (C++)</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7818120" y="868680"/>
            <a:ext cx="3429000" cy="4389120"/>
          </a:xfrm>
          <a:prstGeom prst="roundRect">
            <a:avLst>
              <a:gd name="adj" fmla="val 8000"/>
            </a:avLst>
          </a:prstGeom>
          <a:solidFill>
            <a:srgbClr val="0B1C32"/>
          </a:solidFill>
          <a:ln w="1778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8485632" y="1298448"/>
            <a:ext cx="210312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srgbClr val="000000"/>
                </a:solidFill>
                <a:effectLst/>
                <a:uLnTx/>
                <a:uFillTx/>
                <a:latin typeface="Aptos"/>
                <a:ea typeface="+mn-ea"/>
                <a:cs typeface="+mn-cs"/>
              </a:rPr>
              <a:t>📚</a:t>
            </a:r>
            <a:endParaRPr kumimoji="0" lang="en-US" sz="60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8156448" y="2743200"/>
            <a:ext cx="2743200" cy="128016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F8FB"/>
                </a:solidFill>
                <a:effectLst/>
                <a:uLnTx/>
                <a:uFillTx/>
                <a:latin typeface="Aptos"/>
                <a:ea typeface="+mn-ea"/>
                <a:cs typeface="+mn-cs"/>
              </a:rPr>
              <a:t>AI Librarian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F8FB"/>
                </a:solidFill>
                <a:effectLst/>
                <a:uLnTx/>
                <a:uFillTx/>
                <a:latin typeface="Aptos"/>
                <a:ea typeface="+mn-ea"/>
                <a:cs typeface="+mn-cs"/>
              </a:rPr>
              <a:t>Smart Shelves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F8FB"/>
                </a:solidFill>
                <a:effectLst/>
                <a:uLnTx/>
                <a:uFillTx/>
                <a:latin typeface="Aptos"/>
                <a:ea typeface="+mn-ea"/>
                <a:cs typeface="+mn-cs"/>
              </a:rPr>
              <a:t>Predictive Demand</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F8FB"/>
                </a:solidFill>
                <a:effectLst/>
                <a:uLnTx/>
                <a:uFillTx/>
                <a:latin typeface="Aptos"/>
                <a:ea typeface="+mn-ea"/>
                <a:cs typeface="+mn-cs"/>
              </a:rPr>
              <a:t>File Persistence</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Shape 10"/>
          <p:cNvSpPr/>
          <p:nvPr/>
        </p:nvSpPr>
        <p:spPr>
          <a:xfrm>
            <a:off x="731520" y="2880360"/>
            <a:ext cx="1188720" cy="365760"/>
          </a:xfrm>
          <a:prstGeom prst="roundRect">
            <a:avLst>
              <a:gd name="adj" fmla="val 30000"/>
            </a:avLst>
          </a:prstGeom>
          <a:solidFill>
            <a:srgbClr val="2B6CFF">
              <a:alpha val="12000"/>
            </a:srgbClr>
          </a:solidFill>
          <a:ln w="12700">
            <a:solidFill>
              <a:srgbClr val="2B6CFF">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841248" y="2962656"/>
            <a:ext cx="969264"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6F8FB"/>
                </a:solidFill>
                <a:effectLst/>
                <a:uLnTx/>
                <a:uFillTx/>
                <a:latin typeface="Aptos"/>
                <a:ea typeface="+mn-ea"/>
                <a:cs typeface="+mn-cs"/>
              </a:rPr>
              <a:t>C++ OOP</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2057400" y="2880360"/>
            <a:ext cx="1508760" cy="365760"/>
          </a:xfrm>
          <a:prstGeom prst="roundRect">
            <a:avLst>
              <a:gd name="adj" fmla="val 30000"/>
            </a:avLst>
          </a:prstGeom>
          <a:solidFill>
            <a:srgbClr val="21E6A8">
              <a:alpha val="12000"/>
            </a:srgbClr>
          </a:solidFill>
          <a:ln w="12700">
            <a:solidFill>
              <a:srgbClr val="21E6A8">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2167128" y="2962656"/>
            <a:ext cx="1289304"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6F8FB"/>
                </a:solidFill>
                <a:effectLst/>
                <a:uLnTx/>
                <a:uFillTx/>
                <a:latin typeface="Aptos"/>
                <a:ea typeface="+mn-ea"/>
                <a:cs typeface="+mn-cs"/>
              </a:rPr>
              <a:t>File Handling</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3703320" y="2880360"/>
            <a:ext cx="1143000" cy="365760"/>
          </a:xfrm>
          <a:prstGeom prst="roundRect">
            <a:avLst>
              <a:gd name="adj" fmla="val 30000"/>
            </a:avLst>
          </a:prstGeom>
          <a:solidFill>
            <a:srgbClr val="8F63FF">
              <a:alpha val="12000"/>
            </a:srgbClr>
          </a:solidFill>
          <a:ln w="12700">
            <a:solidFill>
              <a:srgbClr val="8F63FF">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3813048" y="2962656"/>
            <a:ext cx="923544"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6F8FB"/>
                </a:solidFill>
                <a:effectLst/>
                <a:uLnTx/>
                <a:uFillTx/>
                <a:latin typeface="Aptos"/>
                <a:ea typeface="+mn-ea"/>
                <a:cs typeface="+mn-cs"/>
              </a:rPr>
              <a:t>Analytics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731520" y="4837176"/>
            <a:ext cx="5943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ptos"/>
                <a:ea typeface="+mn-ea"/>
                <a:cs typeface="+mn-cs"/>
              </a:rPr>
              <a:t>Zinnorigne Hossain Mohammad </a:t>
            </a:r>
            <a:br>
              <a:rPr kumimoji="0" lang="en-US" sz="1300" b="0" i="0" u="none" strike="noStrike" kern="1200" cap="none" spc="0" normalizeH="0" baseline="0" noProof="0" dirty="0">
                <a:ln>
                  <a:noFill/>
                </a:ln>
                <a:solidFill>
                  <a:prstClr val="white"/>
                </a:solidFill>
                <a:effectLst/>
                <a:uLnTx/>
                <a:uFillTx/>
                <a:latin typeface="Aptos"/>
                <a:ea typeface="+mn-ea"/>
                <a:cs typeface="+mn-cs"/>
              </a:rPr>
            </a:br>
            <a:r>
              <a:rPr kumimoji="0" lang="en-US" sz="1300" b="0" i="0" u="none" strike="noStrike" kern="1200" cap="none" spc="0" normalizeH="0" baseline="0" noProof="0" dirty="0">
                <a:ln>
                  <a:noFill/>
                </a:ln>
                <a:solidFill>
                  <a:prstClr val="white"/>
                </a:solidFill>
                <a:effectLst/>
                <a:uLnTx/>
                <a:uFillTx/>
                <a:latin typeface="Aptos"/>
                <a:ea typeface="+mn-ea"/>
                <a:cs typeface="+mn-cs"/>
              </a:rPr>
              <a:t>M25W0556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Presentation Roadmap</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Clear introduction, body, visual analysis, interaction, and conclusion</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777240" y="1828800"/>
            <a:ext cx="1417320" cy="1417320"/>
          </a:xfrm>
          <a:prstGeom prst="roundRect">
            <a:avLst>
              <a:gd name="adj" fmla="val 12903"/>
            </a:avLst>
          </a:prstGeom>
          <a:solidFill>
            <a:srgbClr val="2B6CFF">
              <a:alpha val="95000"/>
            </a:srgbClr>
          </a:solidFill>
          <a:ln w="12700">
            <a:solidFill>
              <a:srgbClr val="F6F8FB">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777240" y="2176272"/>
            <a:ext cx="1417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7111F"/>
                </a:solidFill>
                <a:effectLst/>
                <a:uLnTx/>
                <a:uFillTx/>
                <a:latin typeface="Aptos"/>
                <a:ea typeface="+mn-ea"/>
                <a:cs typeface="+mn-cs"/>
              </a:rPr>
              <a:t>01</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Text 9"/>
          <p:cNvSpPr/>
          <p:nvPr/>
        </p:nvSpPr>
        <p:spPr>
          <a:xfrm>
            <a:off x="502920" y="3493008"/>
            <a:ext cx="19659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6F8FB"/>
                </a:solidFill>
                <a:effectLst/>
                <a:uLnTx/>
                <a:uFillTx/>
                <a:latin typeface="Aptos"/>
                <a:ea typeface="+mn-ea"/>
                <a:cs typeface="+mn-cs"/>
              </a:rPr>
              <a:t>Problem</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365760" y="3950208"/>
            <a:ext cx="2240280" cy="50292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Manual work, slow search, weak tracking</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2258568" y="2542032"/>
            <a:ext cx="6858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017520" y="1828800"/>
            <a:ext cx="1417320" cy="1417320"/>
          </a:xfrm>
          <a:prstGeom prst="roundRect">
            <a:avLst>
              <a:gd name="adj" fmla="val 12903"/>
            </a:avLst>
          </a:prstGeom>
          <a:solidFill>
            <a:srgbClr val="11D9F6">
              <a:alpha val="95000"/>
            </a:srgbClr>
          </a:solidFill>
          <a:ln w="12700">
            <a:solidFill>
              <a:srgbClr val="F6F8FB">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3017520" y="2176272"/>
            <a:ext cx="1417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7111F"/>
                </a:solidFill>
                <a:effectLst/>
                <a:uLnTx/>
                <a:uFillTx/>
                <a:latin typeface="Aptos"/>
                <a:ea typeface="+mn-ea"/>
                <a:cs typeface="+mn-cs"/>
              </a:rPr>
              <a:t>02</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2743200" y="3493008"/>
            <a:ext cx="19659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6F8FB"/>
                </a:solidFill>
                <a:effectLst/>
                <a:uLnTx/>
                <a:uFillTx/>
                <a:latin typeface="Aptos"/>
                <a:ea typeface="+mn-ea"/>
                <a:cs typeface="+mn-cs"/>
              </a:rPr>
              <a:t>Concept</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2606040" y="3950208"/>
            <a:ext cx="2240280" cy="50292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Neo Library smart library vision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Shape 16"/>
          <p:cNvSpPr/>
          <p:nvPr/>
        </p:nvSpPr>
        <p:spPr>
          <a:xfrm>
            <a:off x="4498848" y="2542032"/>
            <a:ext cx="6858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Shape 17"/>
          <p:cNvSpPr/>
          <p:nvPr/>
        </p:nvSpPr>
        <p:spPr>
          <a:xfrm>
            <a:off x="5257800" y="1828800"/>
            <a:ext cx="1417320" cy="1417320"/>
          </a:xfrm>
          <a:prstGeom prst="roundRect">
            <a:avLst>
              <a:gd name="adj" fmla="val 12903"/>
            </a:avLst>
          </a:prstGeom>
          <a:solidFill>
            <a:srgbClr val="8F63FF">
              <a:alpha val="95000"/>
            </a:srgbClr>
          </a:solidFill>
          <a:ln w="12700">
            <a:solidFill>
              <a:srgbClr val="F6F8FB">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257800" y="2176272"/>
            <a:ext cx="1417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7111F"/>
                </a:solidFill>
                <a:effectLst/>
                <a:uLnTx/>
                <a:uFillTx/>
                <a:latin typeface="Aptos"/>
                <a:ea typeface="+mn-ea"/>
                <a:cs typeface="+mn-cs"/>
              </a:rPr>
              <a:t>03</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4983480" y="3493008"/>
            <a:ext cx="19659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6F8FB"/>
                </a:solidFill>
                <a:effectLst/>
                <a:uLnTx/>
                <a:uFillTx/>
                <a:latin typeface="Aptos"/>
                <a:ea typeface="+mn-ea"/>
                <a:cs typeface="+mn-cs"/>
              </a:rPr>
              <a:t>C++ Design</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4846320" y="3950208"/>
            <a:ext cx="2240280" cy="50292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OOP classes, vectors, files, exceptions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6739128" y="2542032"/>
            <a:ext cx="6858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Shape 22"/>
          <p:cNvSpPr/>
          <p:nvPr/>
        </p:nvSpPr>
        <p:spPr>
          <a:xfrm>
            <a:off x="7498080" y="1828800"/>
            <a:ext cx="1417320" cy="1417320"/>
          </a:xfrm>
          <a:prstGeom prst="roundRect">
            <a:avLst>
              <a:gd name="adj" fmla="val 12903"/>
            </a:avLst>
          </a:prstGeom>
          <a:solidFill>
            <a:srgbClr val="21E6A8">
              <a:alpha val="95000"/>
            </a:srgbClr>
          </a:solidFill>
          <a:ln w="12700">
            <a:solidFill>
              <a:srgbClr val="F6F8FB">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7498080" y="2176272"/>
            <a:ext cx="1417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7111F"/>
                </a:solidFill>
                <a:effectLst/>
                <a:uLnTx/>
                <a:uFillTx/>
                <a:latin typeface="Aptos"/>
                <a:ea typeface="+mn-ea"/>
                <a:cs typeface="+mn-cs"/>
              </a:rPr>
              <a:t>04</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7223760" y="3493008"/>
            <a:ext cx="19659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6F8FB"/>
                </a:solidFill>
                <a:effectLst/>
                <a:uLnTx/>
                <a:uFillTx/>
                <a:latin typeface="Aptos"/>
                <a:ea typeface="+mn-ea"/>
                <a:cs typeface="+mn-cs"/>
              </a:rPr>
              <a:t>Demo Flow</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7086600" y="3950208"/>
            <a:ext cx="2240280" cy="50292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Add, search, borrow, return, analytics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8979408" y="2542032"/>
            <a:ext cx="6858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Shape 27"/>
          <p:cNvSpPr/>
          <p:nvPr/>
        </p:nvSpPr>
        <p:spPr>
          <a:xfrm>
            <a:off x="9738360" y="1828800"/>
            <a:ext cx="1417320" cy="1417320"/>
          </a:xfrm>
          <a:prstGeom prst="roundRect">
            <a:avLst>
              <a:gd name="adj" fmla="val 12903"/>
            </a:avLst>
          </a:prstGeom>
          <a:solidFill>
            <a:srgbClr val="FFC857">
              <a:alpha val="95000"/>
            </a:srgbClr>
          </a:solidFill>
          <a:ln w="12700">
            <a:solidFill>
              <a:srgbClr val="F6F8FB">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9738360" y="2176272"/>
            <a:ext cx="141732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7111F"/>
                </a:solidFill>
                <a:effectLst/>
                <a:uLnTx/>
                <a:uFillTx/>
                <a:latin typeface="Aptos"/>
                <a:ea typeface="+mn-ea"/>
                <a:cs typeface="+mn-cs"/>
              </a:rPr>
              <a:t>05</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9464040" y="3493008"/>
            <a:ext cx="19659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6F8FB"/>
                </a:solidFill>
                <a:effectLst/>
                <a:uLnTx/>
                <a:uFillTx/>
                <a:latin typeface="Aptos"/>
                <a:ea typeface="+mn-ea"/>
                <a:cs typeface="+mn-cs"/>
              </a:rPr>
              <a:t>Future</a:t>
            </a:r>
            <a:endParaRPr kumimoji="0" lang="en-US" sz="160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9326880" y="3950208"/>
            <a:ext cx="2240280" cy="50292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AI librarian, IoT shelves, cloud sync</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2331720" y="5623560"/>
            <a:ext cx="7498080" cy="365760"/>
          </a:xfrm>
          <a:prstGeom prst="roundRect">
            <a:avLst>
              <a:gd name="adj" fmla="val 30000"/>
            </a:avLst>
          </a:prstGeom>
          <a:solidFill>
            <a:srgbClr val="11D9F6">
              <a:alpha val="12000"/>
            </a:srgbClr>
          </a:solidFill>
          <a:ln w="12700">
            <a:solidFill>
              <a:srgbClr val="11D9F6">
                <a:alpha val="6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 32"/>
          <p:cNvSpPr/>
          <p:nvPr/>
        </p:nvSpPr>
        <p:spPr>
          <a:xfrm>
            <a:off x="2441448" y="5705856"/>
            <a:ext cx="7278624"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6F8FB"/>
                </a:solidFill>
                <a:effectLst/>
                <a:uLnTx/>
                <a:uFillTx/>
                <a:latin typeface="Aptos"/>
                <a:ea typeface="+mn-ea"/>
                <a:cs typeface="+mn-cs"/>
              </a:rPr>
              <a:t>Interaction included: “Which feature would you want in your university library?”</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Problem: Why Libraries Need Reinvention</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The ordinary library system is functional, but not future-ready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685800" y="1508760"/>
            <a:ext cx="352044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850392" y="1600200"/>
            <a:ext cx="3191256" cy="0"/>
          </a:xfrm>
          <a:prstGeom prst="line">
            <a:avLst/>
          </a:prstGeom>
          <a:noFill/>
          <a:ln w="2794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923544" y="1755648"/>
            <a:ext cx="304495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Slow Discovery</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923544" y="2203704"/>
            <a:ext cx="3044952" cy="27432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Students spend time searching manually instead of receiving smart suggestions.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343400" y="1508760"/>
            <a:ext cx="352044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4507992" y="1600200"/>
            <a:ext cx="319125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4581144" y="1755648"/>
            <a:ext cx="304495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Weak Visibility</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4581144" y="2203704"/>
            <a:ext cx="3044952" cy="27432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Admins cannot quickly see which books are trending or underused.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8001000" y="1508760"/>
            <a:ext cx="352044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8165592" y="1600200"/>
            <a:ext cx="319125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8238744" y="1755648"/>
            <a:ext cx="304495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Manual Records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8238744" y="2203704"/>
            <a:ext cx="3044952" cy="27432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Borrow and return history can become inconsistent without clean data handling.</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2468880" y="3291840"/>
            <a:ext cx="7040880" cy="0"/>
          </a:xfrm>
          <a:prstGeom prst="line">
            <a:avLst/>
          </a:prstGeom>
          <a:noFill/>
          <a:ln w="25400">
            <a:solidFill>
              <a:srgbClr val="11D9F6"/>
            </a:solidFill>
            <a:prstDash val="solid"/>
            <a:headEnd type="non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Text 20"/>
          <p:cNvSpPr/>
          <p:nvPr/>
        </p:nvSpPr>
        <p:spPr>
          <a:xfrm>
            <a:off x="1371600" y="3657600"/>
            <a:ext cx="9601200" cy="502920"/>
          </a:xfrm>
          <a:prstGeom prst="rect">
            <a:avLst/>
          </a:prstGeom>
          <a:noFill/>
          <a:ln/>
        </p:spPr>
        <p:txBody>
          <a:bodyPr wrap="square" rtlCol="0" anchor="ctr">
            <a:normAutofit fontScale="850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6F8FB"/>
                </a:solidFill>
                <a:effectLst/>
                <a:uLnTx/>
                <a:uFillTx/>
                <a:latin typeface="Aptos"/>
                <a:ea typeface="+mn-ea"/>
                <a:cs typeface="+mn-cs"/>
              </a:rPr>
              <a:t>Goal: Transform book management into a smart, analytical, and future-ready service.</a:t>
            </a:r>
            <a:endParaRPr kumimoji="0" lang="en-US" sz="22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1417320" y="4690872"/>
            <a:ext cx="118872" cy="118872"/>
          </a:xfrm>
          <a:prstGeom prst="ellipse">
            <a:avLst/>
          </a:prstGeom>
          <a:solidFill>
            <a:srgbClr val="21E6A8"/>
          </a:solidFill>
          <a:ln w="127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Text 22"/>
          <p:cNvSpPr/>
          <p:nvPr/>
        </p:nvSpPr>
        <p:spPr>
          <a:xfrm>
            <a:off x="1645920" y="4617720"/>
            <a:ext cx="384048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Faster access to books and member records</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1417320" y="5148072"/>
            <a:ext cx="118872" cy="118872"/>
          </a:xfrm>
          <a:prstGeom prst="ellipse">
            <a:avLst/>
          </a:prstGeom>
          <a:solidFill>
            <a:srgbClr val="21E6A8"/>
          </a:solidFill>
          <a:ln w="127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1645920" y="5074920"/>
            <a:ext cx="402336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Reliable borrow/return transaction history</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Shape 25"/>
          <p:cNvSpPr/>
          <p:nvPr/>
        </p:nvSpPr>
        <p:spPr>
          <a:xfrm>
            <a:off x="6446520" y="4690872"/>
            <a:ext cx="118872" cy="118872"/>
          </a:xfrm>
          <a:prstGeom prst="ellipse">
            <a:avLst/>
          </a:prstGeom>
          <a:solidFill>
            <a:srgbClr val="21E6A8"/>
          </a:solidFill>
          <a:ln w="127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8" name="Text 26"/>
          <p:cNvSpPr/>
          <p:nvPr/>
        </p:nvSpPr>
        <p:spPr>
          <a:xfrm>
            <a:off x="6675120" y="4617720"/>
            <a:ext cx="402336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Analytics for better library decisions</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6446520" y="5148072"/>
            <a:ext cx="118872" cy="118872"/>
          </a:xfrm>
          <a:prstGeom prst="ellipse">
            <a:avLst/>
          </a:prstGeom>
          <a:solidFill>
            <a:srgbClr val="21E6A8"/>
          </a:solidFill>
          <a:ln w="127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6675120" y="5074920"/>
            <a:ext cx="402336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Foundation for AI and IoT integration</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Solution Concept: Neo Library</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A console-based C++ project designed as a smart library prototype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4892040" y="1600200"/>
            <a:ext cx="2377440" cy="2057400"/>
          </a:xfrm>
          <a:prstGeom prst="hexagon">
            <a:avLst/>
          </a:prstGeom>
          <a:solidFill>
            <a:srgbClr val="11D9F6">
              <a:alpha val="92000"/>
            </a:srgbClr>
          </a:solidFill>
          <a:ln w="2540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5166360" y="1938528"/>
            <a:ext cx="1828800" cy="1097280"/>
          </a:xfrm>
          <a:prstGeom prst="rect">
            <a:avLst/>
          </a:prstGeom>
          <a:noFill/>
          <a:ln/>
        </p:spPr>
        <p:txBody>
          <a:bodyPr wrap="squar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7111F"/>
                </a:solidFill>
                <a:effectLst/>
                <a:uLnTx/>
                <a:uFillTx/>
                <a:latin typeface="Aptos"/>
                <a:ea typeface="+mn-ea"/>
                <a:cs typeface="+mn-cs"/>
              </a:rPr>
              <a:t>Neo</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7111F"/>
                </a:solidFill>
                <a:effectLst/>
                <a:uLnTx/>
                <a:uFillTx/>
                <a:latin typeface="Aptos"/>
                <a:ea typeface="+mn-ea"/>
                <a:cs typeface="+mn-cs"/>
              </a:rPr>
              <a:t>Library</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822960" y="1645920"/>
            <a:ext cx="274320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987552" y="1737360"/>
            <a:ext cx="241401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1060704" y="1892808"/>
            <a:ext cx="226771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AI Librarian</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1060704" y="2340864"/>
            <a:ext cx="2267712" cy="274320"/>
          </a:xfrm>
          <a:prstGeom prst="rect">
            <a:avLst/>
          </a:prstGeom>
          <a:noFill/>
          <a:ln/>
        </p:spPr>
        <p:txBody>
          <a:bodyPr wrap="square"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Recommendation and search assistance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8595360" y="1645920"/>
            <a:ext cx="274320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Shape 14"/>
          <p:cNvSpPr/>
          <p:nvPr/>
        </p:nvSpPr>
        <p:spPr>
          <a:xfrm>
            <a:off x="8759952" y="1737360"/>
            <a:ext cx="241401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8833104" y="1892808"/>
            <a:ext cx="226771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Smart Shelves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8833104" y="2340864"/>
            <a:ext cx="2267712" cy="274320"/>
          </a:xfrm>
          <a:prstGeom prst="rect">
            <a:avLst/>
          </a:prstGeom>
          <a:noFill/>
          <a:ln/>
        </p:spPr>
        <p:txBody>
          <a:bodyPr wrap="square"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Real-time availability and demand status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822960" y="4160520"/>
            <a:ext cx="274320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987552" y="4251960"/>
            <a:ext cx="241401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1060704" y="4407408"/>
            <a:ext cx="226771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Member Portal</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1060704" y="4855464"/>
            <a:ext cx="2267712" cy="2743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Borrow, return, and view records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8595360" y="4160520"/>
            <a:ext cx="274320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Shape 22"/>
          <p:cNvSpPr/>
          <p:nvPr/>
        </p:nvSpPr>
        <p:spPr>
          <a:xfrm>
            <a:off x="8759952" y="4251960"/>
            <a:ext cx="241401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8833104" y="4407408"/>
            <a:ext cx="226771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Analytics Hub</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8833104" y="4855464"/>
            <a:ext cx="2267712" cy="274320"/>
          </a:xfrm>
          <a:prstGeom prst="rect">
            <a:avLst/>
          </a:prstGeom>
          <a:noFill/>
          <a:ln/>
        </p:spPr>
        <p:txBody>
          <a:bodyPr wrap="square"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Demand trends and inventory decisions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Shape 25"/>
          <p:cNvSpPr/>
          <p:nvPr/>
        </p:nvSpPr>
        <p:spPr>
          <a:xfrm>
            <a:off x="3566160" y="2212848"/>
            <a:ext cx="1097280" cy="274320"/>
          </a:xfrm>
          <a:prstGeom prst="line">
            <a:avLst/>
          </a:prstGeom>
          <a:noFill/>
          <a:ln w="2286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8" name="Shape 26"/>
          <p:cNvSpPr/>
          <p:nvPr/>
        </p:nvSpPr>
        <p:spPr>
          <a:xfrm>
            <a:off x="7452360" y="2212848"/>
            <a:ext cx="960120" cy="0"/>
          </a:xfrm>
          <a:prstGeom prst="line">
            <a:avLst/>
          </a:prstGeom>
          <a:noFill/>
          <a:ln w="2286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Shape 27"/>
          <p:cNvSpPr/>
          <p:nvPr/>
        </p:nvSpPr>
        <p:spPr>
          <a:xfrm>
            <a:off x="3566160" y="4663440"/>
            <a:ext cx="1097280" cy="0"/>
          </a:xfrm>
          <a:prstGeom prst="line">
            <a:avLst/>
          </a:prstGeom>
          <a:noFill/>
          <a:ln w="2286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7452360" y="3657600"/>
            <a:ext cx="960120" cy="1005840"/>
          </a:xfrm>
          <a:prstGeom prst="line">
            <a:avLst/>
          </a:prstGeom>
          <a:noFill/>
          <a:ln w="2286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Project Objectives</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What the system must achieve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731520" y="153619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896112" y="1627632"/>
            <a:ext cx="291693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969264" y="178308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Manage Books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969264" y="2231136"/>
            <a:ext cx="2770632" cy="393192"/>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Add, list, search, and track availability</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526280" y="153619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4690872" y="1627632"/>
            <a:ext cx="291693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4764024" y="178308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Manage Members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4764024" y="2231136"/>
            <a:ext cx="2770632" cy="393192"/>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Store member ID, name, email, and borrow count</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8321040" y="153619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8485632" y="1627632"/>
            <a:ext cx="291693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8558784" y="178308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Borrow &amp; Return</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8558784" y="2231136"/>
            <a:ext cx="2770632" cy="393192"/>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Update status and create transaction records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731520" y="341071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896112" y="3502152"/>
            <a:ext cx="29169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969264" y="365760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Save Data</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969264" y="4105656"/>
            <a:ext cx="2770632" cy="393192"/>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Persist books, members, and records in text files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4526280" y="341071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4690872" y="3502152"/>
            <a:ext cx="29169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4764024" y="365760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Smart Features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4764024" y="4105656"/>
            <a:ext cx="2770632" cy="393192"/>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Recommend by category and show trending books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8321040" y="3410712"/>
            <a:ext cx="3246120" cy="1261872"/>
          </a:xfrm>
          <a:prstGeom prst="roundRect">
            <a:avLst>
              <a:gd name="adj" fmla="val 1304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8485632" y="3502152"/>
            <a:ext cx="2916936" cy="0"/>
          </a:xfrm>
          <a:prstGeom prst="line">
            <a:avLst/>
          </a:prstGeom>
          <a:noFill/>
          <a:ln w="2794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8558784" y="3657600"/>
            <a:ext cx="2770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Analytics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8558784" y="4105656"/>
            <a:ext cx="2770632" cy="393192"/>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Show total books, borrowed books, members, and transactions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System Architecture</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From user input to persistent library data</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2377440" y="3383280"/>
            <a:ext cx="9144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4617720" y="2514600"/>
            <a:ext cx="96012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617720" y="3383280"/>
            <a:ext cx="96012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4617720" y="4343400"/>
            <a:ext cx="960120" cy="22860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Shape 11"/>
          <p:cNvSpPr/>
          <p:nvPr/>
        </p:nvSpPr>
        <p:spPr>
          <a:xfrm>
            <a:off x="7818120" y="2331720"/>
            <a:ext cx="9144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7818120" y="3383280"/>
            <a:ext cx="9144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7818120" y="4434840"/>
            <a:ext cx="914400"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Shape 14"/>
          <p:cNvSpPr/>
          <p:nvPr/>
        </p:nvSpPr>
        <p:spPr>
          <a:xfrm>
            <a:off x="731520" y="2761488"/>
            <a:ext cx="1645920" cy="1097280"/>
          </a:xfrm>
          <a:prstGeom prst="roundRect">
            <a:avLst>
              <a:gd name="adj" fmla="val 15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Shape 15"/>
          <p:cNvSpPr/>
          <p:nvPr/>
        </p:nvSpPr>
        <p:spPr>
          <a:xfrm>
            <a:off x="896112" y="2852928"/>
            <a:ext cx="131673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Text 16"/>
          <p:cNvSpPr/>
          <p:nvPr/>
        </p:nvSpPr>
        <p:spPr>
          <a:xfrm>
            <a:off x="969264" y="3008376"/>
            <a:ext cx="11704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User</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Text 17"/>
          <p:cNvSpPr/>
          <p:nvPr/>
        </p:nvSpPr>
        <p:spPr>
          <a:xfrm>
            <a:off x="969264" y="3456432"/>
            <a:ext cx="1170432" cy="228600"/>
          </a:xfrm>
          <a:prstGeom prst="rect">
            <a:avLst/>
          </a:prstGeom>
          <a:noFill/>
          <a:ln/>
        </p:spPr>
        <p:txBody>
          <a:bodyPr wrap="square" rtlCol="0" anchor="ct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Console menu input</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Shape 18"/>
          <p:cNvSpPr/>
          <p:nvPr/>
        </p:nvSpPr>
        <p:spPr>
          <a:xfrm>
            <a:off x="3291840" y="2633472"/>
            <a:ext cx="1463040" cy="1353312"/>
          </a:xfrm>
          <a:prstGeom prst="roundRect">
            <a:avLst>
              <a:gd name="adj" fmla="val 1216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Shape 19"/>
          <p:cNvSpPr/>
          <p:nvPr/>
        </p:nvSpPr>
        <p:spPr>
          <a:xfrm>
            <a:off x="3456432" y="2724912"/>
            <a:ext cx="113385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Text 20"/>
          <p:cNvSpPr/>
          <p:nvPr/>
        </p:nvSpPr>
        <p:spPr>
          <a:xfrm>
            <a:off x="3529584" y="2880360"/>
            <a:ext cx="98755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Menu</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21"/>
          <p:cNvSpPr/>
          <p:nvPr/>
        </p:nvSpPr>
        <p:spPr>
          <a:xfrm>
            <a:off x="3529584" y="3328416"/>
            <a:ext cx="987552" cy="484632"/>
          </a:xfrm>
          <a:prstGeom prst="rect">
            <a:avLst/>
          </a:prstGeom>
          <a:noFill/>
          <a:ln/>
        </p:spPr>
        <p:txBody>
          <a:bodyPr wrap="square" rtlCol="0" anchor="ct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Add, search, borrow, return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Shape 22"/>
          <p:cNvSpPr/>
          <p:nvPr/>
        </p:nvSpPr>
        <p:spPr>
          <a:xfrm>
            <a:off x="5715000" y="1600200"/>
            <a:ext cx="21031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Shape 23"/>
          <p:cNvSpPr/>
          <p:nvPr/>
        </p:nvSpPr>
        <p:spPr>
          <a:xfrm>
            <a:off x="5879592" y="1691640"/>
            <a:ext cx="177393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5952744" y="1847088"/>
            <a:ext cx="1627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Book Module</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5952744" y="2295144"/>
            <a:ext cx="16276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25000" noProof="0" dirty="0">
                <a:ln>
                  <a:noFill/>
                </a:ln>
                <a:solidFill>
                  <a:srgbClr val="B9C8D6"/>
                </a:solidFill>
                <a:effectLst/>
                <a:uLnTx/>
                <a:uFillTx/>
                <a:latin typeface="Aptos"/>
                <a:ea typeface="+mn-ea"/>
                <a:cs typeface="+mn-cs"/>
              </a:rPr>
              <a:t>Book objects + availability</a:t>
            </a:r>
            <a:endParaRPr kumimoji="0" lang="en-US" sz="1200" b="0" i="0" u="none" strike="noStrike" kern="1200" cap="none" spc="0" normalizeH="0" baseline="-25000" noProof="0" dirty="0">
              <a:ln>
                <a:noFill/>
              </a:ln>
              <a:solidFill>
                <a:prstClr val="black"/>
              </a:solidFill>
              <a:effectLst/>
              <a:uLnTx/>
              <a:uFillTx/>
              <a:latin typeface="Aptos"/>
              <a:ea typeface="+mn-ea"/>
              <a:cs typeface="+mn-cs"/>
            </a:endParaRPr>
          </a:p>
        </p:txBody>
      </p:sp>
      <p:sp>
        <p:nvSpPr>
          <p:cNvPr id="28" name="Shape 26"/>
          <p:cNvSpPr/>
          <p:nvPr/>
        </p:nvSpPr>
        <p:spPr>
          <a:xfrm>
            <a:off x="5715000" y="2887472"/>
            <a:ext cx="21031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Shape 27"/>
          <p:cNvSpPr/>
          <p:nvPr/>
        </p:nvSpPr>
        <p:spPr>
          <a:xfrm>
            <a:off x="5879592" y="2971800"/>
            <a:ext cx="17739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Text 28"/>
          <p:cNvSpPr/>
          <p:nvPr/>
        </p:nvSpPr>
        <p:spPr>
          <a:xfrm>
            <a:off x="5952744" y="3067812"/>
            <a:ext cx="1627632" cy="301752"/>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6F8FB"/>
                </a:solidFill>
                <a:effectLst/>
                <a:uLnTx/>
                <a:uFillTx/>
                <a:latin typeface="Aptos"/>
                <a:ea typeface="+mn-ea"/>
                <a:cs typeface="+mn-cs"/>
              </a:rPr>
              <a:t>Member Module</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31" name="Text 29"/>
          <p:cNvSpPr/>
          <p:nvPr/>
        </p:nvSpPr>
        <p:spPr>
          <a:xfrm>
            <a:off x="5952744" y="3568192"/>
            <a:ext cx="16276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8D6"/>
                </a:solidFill>
                <a:effectLst/>
                <a:uLnTx/>
                <a:uFillTx/>
                <a:latin typeface="Aptos"/>
                <a:ea typeface="+mn-ea"/>
                <a:cs typeface="+mn-cs"/>
              </a:rPr>
              <a:t>Member profile + count</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Shape 30"/>
          <p:cNvSpPr/>
          <p:nvPr/>
        </p:nvSpPr>
        <p:spPr>
          <a:xfrm>
            <a:off x="5715000" y="4160520"/>
            <a:ext cx="21031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3" name="Shape 31"/>
          <p:cNvSpPr/>
          <p:nvPr/>
        </p:nvSpPr>
        <p:spPr>
          <a:xfrm>
            <a:off x="5879592" y="4251960"/>
            <a:ext cx="17739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 32"/>
          <p:cNvSpPr/>
          <p:nvPr/>
        </p:nvSpPr>
        <p:spPr>
          <a:xfrm>
            <a:off x="5952744" y="4407408"/>
            <a:ext cx="1627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Record Module</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5" name="Text 33"/>
          <p:cNvSpPr/>
          <p:nvPr/>
        </p:nvSpPr>
        <p:spPr>
          <a:xfrm>
            <a:off x="5952744" y="4855464"/>
            <a:ext cx="16276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8D6"/>
                </a:solidFill>
                <a:effectLst/>
                <a:uLnTx/>
                <a:uFillTx/>
                <a:latin typeface="Aptos"/>
                <a:ea typeface="+mn-ea"/>
                <a:cs typeface="+mn-cs"/>
              </a:rPr>
              <a:t>Borrow / return history</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Shape 34"/>
          <p:cNvSpPr/>
          <p:nvPr/>
        </p:nvSpPr>
        <p:spPr>
          <a:xfrm>
            <a:off x="8915400" y="1600200"/>
            <a:ext cx="23317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7" name="Shape 35"/>
          <p:cNvSpPr/>
          <p:nvPr/>
        </p:nvSpPr>
        <p:spPr>
          <a:xfrm>
            <a:off x="9079992" y="1691640"/>
            <a:ext cx="200253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8" name="Text 36"/>
          <p:cNvSpPr/>
          <p:nvPr/>
        </p:nvSpPr>
        <p:spPr>
          <a:xfrm>
            <a:off x="9153144" y="184708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books.txt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9" name="Text 37"/>
          <p:cNvSpPr/>
          <p:nvPr/>
        </p:nvSpPr>
        <p:spPr>
          <a:xfrm>
            <a:off x="9153144" y="2295144"/>
            <a:ext cx="18562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8D6"/>
                </a:solidFill>
                <a:effectLst/>
                <a:uLnTx/>
                <a:uFillTx/>
                <a:latin typeface="Aptos"/>
                <a:ea typeface="+mn-ea"/>
                <a:cs typeface="+mn-cs"/>
              </a:rPr>
              <a:t>Persistent book database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40" name="Shape 38"/>
          <p:cNvSpPr/>
          <p:nvPr/>
        </p:nvSpPr>
        <p:spPr>
          <a:xfrm>
            <a:off x="8915400" y="2880360"/>
            <a:ext cx="23317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1" name="Shape 39"/>
          <p:cNvSpPr/>
          <p:nvPr/>
        </p:nvSpPr>
        <p:spPr>
          <a:xfrm>
            <a:off x="9079992" y="2971800"/>
            <a:ext cx="20025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2" name="Text 40"/>
          <p:cNvSpPr/>
          <p:nvPr/>
        </p:nvSpPr>
        <p:spPr>
          <a:xfrm>
            <a:off x="9153144" y="312724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members.txt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43" name="Text 41"/>
          <p:cNvSpPr/>
          <p:nvPr/>
        </p:nvSpPr>
        <p:spPr>
          <a:xfrm>
            <a:off x="9153144" y="3575304"/>
            <a:ext cx="18562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8D6"/>
                </a:solidFill>
                <a:effectLst/>
                <a:uLnTx/>
                <a:uFillTx/>
                <a:latin typeface="Aptos"/>
                <a:ea typeface="+mn-ea"/>
                <a:cs typeface="+mn-cs"/>
              </a:rPr>
              <a:t>Persistent member database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44" name="Shape 42"/>
          <p:cNvSpPr/>
          <p:nvPr/>
        </p:nvSpPr>
        <p:spPr>
          <a:xfrm>
            <a:off x="8915400" y="4160520"/>
            <a:ext cx="2331720" cy="914400"/>
          </a:xfrm>
          <a:prstGeom prst="roundRect">
            <a:avLst>
              <a:gd name="adj" fmla="val 180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5" name="Shape 43"/>
          <p:cNvSpPr/>
          <p:nvPr/>
        </p:nvSpPr>
        <p:spPr>
          <a:xfrm>
            <a:off x="9079992" y="4251960"/>
            <a:ext cx="20025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46" name="Text 44"/>
          <p:cNvSpPr/>
          <p:nvPr/>
        </p:nvSpPr>
        <p:spPr>
          <a:xfrm>
            <a:off x="9153144" y="440740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records.txt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47" name="Text 45"/>
          <p:cNvSpPr/>
          <p:nvPr/>
        </p:nvSpPr>
        <p:spPr>
          <a:xfrm>
            <a:off x="9153144" y="4855464"/>
            <a:ext cx="1856232" cy="45720"/>
          </a:xfrm>
          <a:prstGeom prst="rect">
            <a:avLst/>
          </a:prstGeom>
          <a:no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8D6"/>
                </a:solidFill>
                <a:effectLst/>
                <a:uLnTx/>
                <a:uFillTx/>
                <a:latin typeface="Aptos"/>
                <a:ea typeface="+mn-ea"/>
                <a:cs typeface="+mn-cs"/>
              </a:rPr>
              <a:t>Transaction log</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C++ Concepts Used</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The system is not only a menu; it demonstrates course-level programming concepts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731520" y="1417320"/>
            <a:ext cx="242316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896112" y="1508760"/>
            <a:ext cx="209397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969264" y="1664208"/>
            <a:ext cx="194767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OOP</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969264" y="2112264"/>
            <a:ext cx="1947672" cy="182880"/>
          </a:xfrm>
          <a:prstGeom prst="rect">
            <a:avLst/>
          </a:prstGeom>
          <a:noFill/>
          <a:ln/>
        </p:spPr>
        <p:txBody>
          <a:bodyPr wrap="square" rtlCol="0" anchor="ctr">
            <a:normAutofit fontScale="5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Book, Member, Record, LibrarySystem classes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3429000" y="1417320"/>
            <a:ext cx="242316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593592" y="1508760"/>
            <a:ext cx="209397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3666744" y="1664208"/>
            <a:ext cx="194767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Constructors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3666744" y="2112264"/>
            <a:ext cx="1947672" cy="18288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Initialize object data safely</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6126480" y="1417320"/>
            <a:ext cx="242316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6291072" y="1508760"/>
            <a:ext cx="209397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6364224" y="1664208"/>
            <a:ext cx="194767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Vector</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6364224" y="2112264"/>
            <a:ext cx="1947672" cy="182880"/>
          </a:xfrm>
          <a:prstGeom prst="rect">
            <a:avLst/>
          </a:prstGeom>
          <a:noFill/>
          <a:ln/>
        </p:spPr>
        <p:txBody>
          <a:bodyPr wrap="square" rtlCol="0" anchor="ctr">
            <a:normAutofit fontScale="5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Dynamic storage for books, members, records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8823960" y="1417320"/>
            <a:ext cx="242316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8988552" y="1508760"/>
            <a:ext cx="209397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9061704" y="1664208"/>
            <a:ext cx="194767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File I/O</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9061704" y="2112264"/>
            <a:ext cx="1947672" cy="18288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Load and save text database files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2011680" y="3337560"/>
            <a:ext cx="269748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2176272" y="3429000"/>
            <a:ext cx="236829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2249424" y="3584448"/>
            <a:ext cx="22219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Exceptions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2249424" y="4032504"/>
            <a:ext cx="2221992" cy="18288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runtime_error for invalid IDs and status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4892040" y="3337560"/>
            <a:ext cx="269748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5056632" y="3429000"/>
            <a:ext cx="2368296" cy="0"/>
          </a:xfrm>
          <a:prstGeom prst="line">
            <a:avLst/>
          </a:prstGeom>
          <a:noFill/>
          <a:ln w="2794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5129784" y="3584448"/>
            <a:ext cx="22219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Modular Files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5129784" y="4032504"/>
            <a:ext cx="2221992" cy="18288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Header.h, Implement.cpp, Main.cpp</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7772400" y="3337560"/>
            <a:ext cx="2697480" cy="1051560"/>
          </a:xfrm>
          <a:prstGeom prst="roundRect">
            <a:avLst>
              <a:gd name="adj" fmla="val 15652"/>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Shape 32"/>
          <p:cNvSpPr/>
          <p:nvPr/>
        </p:nvSpPr>
        <p:spPr>
          <a:xfrm>
            <a:off x="7936992" y="3429000"/>
            <a:ext cx="236829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33"/>
          <p:cNvSpPr/>
          <p:nvPr/>
        </p:nvSpPr>
        <p:spPr>
          <a:xfrm>
            <a:off x="8010144" y="3584448"/>
            <a:ext cx="22219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Algorithms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6" name="Text 34"/>
          <p:cNvSpPr/>
          <p:nvPr/>
        </p:nvSpPr>
        <p:spPr>
          <a:xfrm>
            <a:off x="8010144" y="4032504"/>
            <a:ext cx="2221992" cy="182880"/>
          </a:xfrm>
          <a:prstGeom prst="rect">
            <a:avLst/>
          </a:prstGeom>
          <a:noFill/>
          <a:ln/>
        </p:spPr>
        <p:txBody>
          <a:bodyPr wrap="square" rtlCol="0" anchor="ct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Search, sort trending demand score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Text 35"/>
          <p:cNvSpPr/>
          <p:nvPr/>
        </p:nvSpPr>
        <p:spPr>
          <a:xfrm>
            <a:off x="1097280" y="5486400"/>
            <a:ext cx="98755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Main learning value: a complete C++ application with real data flow, not isolated syntax examples.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Object-Oriented Class Design</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Four main classes divide responsibility cleanly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640080" y="1417320"/>
            <a:ext cx="2331720" cy="3474720"/>
          </a:xfrm>
          <a:prstGeom prst="roundRect">
            <a:avLst>
              <a:gd name="adj" fmla="val 7059"/>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804672" y="1508760"/>
            <a:ext cx="200253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877824" y="166420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Book</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877824" y="2112264"/>
            <a:ext cx="1856232" cy="260604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id, title, author, category, availability, demand score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3611880" y="1417320"/>
            <a:ext cx="2331720" cy="3474720"/>
          </a:xfrm>
          <a:prstGeom prst="roundRect">
            <a:avLst>
              <a:gd name="adj" fmla="val 7059"/>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776472" y="1508760"/>
            <a:ext cx="200253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3849624" y="166420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Member</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3849624" y="2112264"/>
            <a:ext cx="1856232" cy="260604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id, name, email, borrowed book count</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6583680" y="1417320"/>
            <a:ext cx="2331720" cy="3474720"/>
          </a:xfrm>
          <a:prstGeom prst="roundRect">
            <a:avLst>
              <a:gd name="adj" fmla="val 7059"/>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6748272" y="1508760"/>
            <a:ext cx="20025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6821424" y="166420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BorrowRecord</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6821424" y="2112264"/>
            <a:ext cx="1856232" cy="260604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bookId, memberId, action, date/time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9555480" y="1417320"/>
            <a:ext cx="2331720" cy="3474720"/>
          </a:xfrm>
          <a:prstGeom prst="roundRect">
            <a:avLst>
              <a:gd name="adj" fmla="val 7059"/>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9720072" y="1508760"/>
            <a:ext cx="20025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9793224" y="1664208"/>
            <a:ext cx="18562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LibrarySystem</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9793224" y="2112264"/>
            <a:ext cx="1856232" cy="260604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loads data, saves data, menu, borrow, return, analytics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1371600" y="5486400"/>
            <a:ext cx="94183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F8FB"/>
                </a:solidFill>
                <a:effectLst/>
                <a:uLnTx/>
                <a:uFillTx/>
                <a:latin typeface="Aptos"/>
                <a:ea typeface="+mn-ea"/>
                <a:cs typeface="+mn-cs"/>
              </a:rPr>
              <a:t>Design rule: each class has one clear responsibility.</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Borrow / Return Workflow</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The most important library transaction logic</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640080" y="2011680"/>
            <a:ext cx="1901952" cy="1325880"/>
          </a:xfrm>
          <a:prstGeom prst="roundRect">
            <a:avLst>
              <a:gd name="adj" fmla="val 12414"/>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804672" y="2103120"/>
            <a:ext cx="1572768"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877824" y="2258568"/>
            <a:ext cx="1426464"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Input IDs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877824" y="2706624"/>
            <a:ext cx="1426464" cy="45720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Book ID + Member ID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2578608" y="2679192"/>
            <a:ext cx="347472"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2971800" y="2011680"/>
            <a:ext cx="1901952" cy="1325880"/>
          </a:xfrm>
          <a:prstGeom prst="roundRect">
            <a:avLst>
              <a:gd name="adj" fmla="val 12414"/>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3136392" y="2103120"/>
            <a:ext cx="1572768"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3209544" y="2258568"/>
            <a:ext cx="1426464"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Validate</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3209544" y="2706624"/>
            <a:ext cx="1426464" cy="45720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Book exists, member exists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Shape 16"/>
          <p:cNvSpPr/>
          <p:nvPr/>
        </p:nvSpPr>
        <p:spPr>
          <a:xfrm>
            <a:off x="4910328" y="2679192"/>
            <a:ext cx="347472"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Shape 17"/>
          <p:cNvSpPr/>
          <p:nvPr/>
        </p:nvSpPr>
        <p:spPr>
          <a:xfrm>
            <a:off x="5303520" y="2011680"/>
            <a:ext cx="1901952" cy="1325880"/>
          </a:xfrm>
          <a:prstGeom prst="roundRect">
            <a:avLst>
              <a:gd name="adj" fmla="val 12414"/>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5468112" y="2103120"/>
            <a:ext cx="1572768"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5541264" y="2258568"/>
            <a:ext cx="1426464"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Check Status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5541264" y="2706624"/>
            <a:ext cx="1426464" cy="457200"/>
          </a:xfrm>
          <a:prstGeom prst="rect">
            <a:avLst/>
          </a:prstGeom>
          <a:noFill/>
          <a:ln/>
        </p:spPr>
        <p:txBody>
          <a:bodyPr wrap="square" rtlCol="0" anchor="ct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Available for borrow or borrowed for return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7242048" y="2679192"/>
            <a:ext cx="347472"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Shape 22"/>
          <p:cNvSpPr/>
          <p:nvPr/>
        </p:nvSpPr>
        <p:spPr>
          <a:xfrm>
            <a:off x="7635240" y="2011680"/>
            <a:ext cx="1901952" cy="1325880"/>
          </a:xfrm>
          <a:prstGeom prst="roundRect">
            <a:avLst>
              <a:gd name="adj" fmla="val 12414"/>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Shape 23"/>
          <p:cNvSpPr/>
          <p:nvPr/>
        </p:nvSpPr>
        <p:spPr>
          <a:xfrm>
            <a:off x="7799832" y="2103120"/>
            <a:ext cx="1572768"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7872984" y="2258568"/>
            <a:ext cx="1426464"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Update Data</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7" name="Text 25"/>
          <p:cNvSpPr/>
          <p:nvPr/>
        </p:nvSpPr>
        <p:spPr>
          <a:xfrm>
            <a:off x="7872984" y="2706624"/>
            <a:ext cx="1426464" cy="45720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Book status + member count</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Shape 26"/>
          <p:cNvSpPr/>
          <p:nvPr/>
        </p:nvSpPr>
        <p:spPr>
          <a:xfrm>
            <a:off x="9573768" y="2679192"/>
            <a:ext cx="347472" cy="0"/>
          </a:xfrm>
          <a:prstGeom prst="line">
            <a:avLst/>
          </a:prstGeom>
          <a:noFill/>
          <a:ln w="25400">
            <a:solidFill>
              <a:srgbClr val="2441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9" name="Shape 27"/>
          <p:cNvSpPr/>
          <p:nvPr/>
        </p:nvSpPr>
        <p:spPr>
          <a:xfrm>
            <a:off x="9966960" y="2011680"/>
            <a:ext cx="1901952" cy="1325880"/>
          </a:xfrm>
          <a:prstGeom prst="roundRect">
            <a:avLst>
              <a:gd name="adj" fmla="val 12414"/>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10131552" y="2103120"/>
            <a:ext cx="1572768"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10204704" y="2258568"/>
            <a:ext cx="1426464"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Save History</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10204704" y="2706624"/>
            <a:ext cx="1426464" cy="45720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Add record and save files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Shape 31"/>
          <p:cNvSpPr/>
          <p:nvPr/>
        </p:nvSpPr>
        <p:spPr>
          <a:xfrm>
            <a:off x="2057400" y="4251960"/>
            <a:ext cx="8138160" cy="713232"/>
          </a:xfrm>
          <a:prstGeom prst="roundRect">
            <a:avLst>
              <a:gd name="adj" fmla="val 23077"/>
            </a:avLst>
          </a:prstGeom>
          <a:solidFill>
            <a:srgbClr val="0B1B2E"/>
          </a:solidFill>
          <a:ln w="1270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4" name="Text 32"/>
          <p:cNvSpPr/>
          <p:nvPr/>
        </p:nvSpPr>
        <p:spPr>
          <a:xfrm>
            <a:off x="2148840" y="4443984"/>
            <a:ext cx="795528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Every transaction creates a digital footprint in records.txt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Unique &amp; Futuristic Features</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What makes this project more than a normal library system</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77240" y="141732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AI Librarian</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777240" y="1856232"/>
            <a:ext cx="2834640" cy="0"/>
          </a:xfrm>
          <a:prstGeom prst="line">
            <a:avLst/>
          </a:prstGeom>
          <a:noFill/>
          <a:ln w="2540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777240" y="205740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Recommends books by category and popularity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4526280" y="141732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Smart Shelf</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526280" y="1856232"/>
            <a:ext cx="2834640" cy="0"/>
          </a:xfrm>
          <a:prstGeom prst="line">
            <a:avLst/>
          </a:prstGeom>
          <a:noFill/>
          <a:ln w="254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4526280" y="205740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Future IoT shelf can update availability automatically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3"/>
          <p:cNvSpPr/>
          <p:nvPr/>
        </p:nvSpPr>
        <p:spPr>
          <a:xfrm>
            <a:off x="8275320" y="141732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QR Checkout</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Shape 14"/>
          <p:cNvSpPr/>
          <p:nvPr/>
        </p:nvSpPr>
        <p:spPr>
          <a:xfrm>
            <a:off x="8275320" y="1856232"/>
            <a:ext cx="2834640" cy="0"/>
          </a:xfrm>
          <a:prstGeom prst="line">
            <a:avLst/>
          </a:prstGeom>
          <a:noFill/>
          <a:ln w="2540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8275320" y="205740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Future mobile-based quick borrow and return</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777240" y="338328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Analytics Hub</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777240" y="3822192"/>
            <a:ext cx="2834640" cy="0"/>
          </a:xfrm>
          <a:prstGeom prst="line">
            <a:avLst/>
          </a:prstGeom>
          <a:noFill/>
          <a:ln w="254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777240" y="402336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Shows inventory and transaction summary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4526280" y="338328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Demand Prediction</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4526280" y="3822192"/>
            <a:ext cx="2834640" cy="0"/>
          </a:xfrm>
          <a:prstGeom prst="line">
            <a:avLst/>
          </a:prstGeom>
          <a:noFill/>
          <a:ln w="2540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4526280" y="402336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Borrow count works as demand score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8275320" y="3383280"/>
            <a:ext cx="3108960" cy="32004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6F8FB"/>
                </a:solidFill>
                <a:effectLst/>
                <a:uLnTx/>
                <a:uFillTx/>
                <a:latin typeface="Aptos"/>
                <a:ea typeface="+mn-ea"/>
                <a:cs typeface="+mn-cs"/>
              </a:rPr>
              <a:t>☁ Cloud Ready</a:t>
            </a:r>
            <a:endParaRPr kumimoji="0" lang="en-US" sz="170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8275320" y="3822192"/>
            <a:ext cx="2834640" cy="0"/>
          </a:xfrm>
          <a:prstGeom prst="line">
            <a:avLst/>
          </a:prstGeom>
          <a:noFill/>
          <a:ln w="2540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8275320" y="4023360"/>
            <a:ext cx="3108960" cy="5029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Files can later become database or cloud storage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423"/>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54864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a:ln>
                  <a:noFill/>
                </a:ln>
                <a:solidFill>
                  <a:srgbClr val="FFFFFF"/>
                </a:solidFill>
                <a:effectLst/>
                <a:uLnTx/>
                <a:uFillTx/>
                <a:latin typeface="Calibri"/>
                <a:ea typeface="+mn-ea"/>
                <a:cs typeface="+mn-cs"/>
              </a:rPr>
              <a:t>Demo: Main.cpp</a:t>
            </a:r>
          </a:p>
        </p:txBody>
      </p:sp>
      <p:sp>
        <p:nvSpPr>
          <p:cNvPr id="3" name="TextBox 2"/>
          <p:cNvSpPr txBox="1"/>
          <p:nvPr/>
        </p:nvSpPr>
        <p:spPr>
          <a:xfrm>
            <a:off x="2194560" y="868680"/>
            <a:ext cx="54864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a:solidFill>
                  <a:srgbClr val="DCDCDC"/>
                </a:solidFill>
              </a:defRPr>
            </a:pPr>
            <a:r>
              <a:rPr kumimoji="0" sz="1400" b="0" i="0" u="none" strike="noStrike" kern="1200" cap="none" spc="0" normalizeH="0" baseline="0" noProof="0">
                <a:ln>
                  <a:noFill/>
                </a:ln>
                <a:solidFill>
                  <a:srgbClr val="DCDCDC"/>
                </a:solidFill>
                <a:effectLst/>
                <a:uLnTx/>
                <a:uFillTx/>
                <a:latin typeface="Calibri"/>
                <a:ea typeface="+mn-ea"/>
                <a:cs typeface="+mn-cs"/>
              </a:rPr>
              <a:t>Program Entry Point</a:t>
            </a:r>
          </a:p>
        </p:txBody>
      </p:sp>
      <p:sp>
        <p:nvSpPr>
          <p:cNvPr id="4" name="Rounded Rectangle 3"/>
          <p:cNvSpPr/>
          <p:nvPr/>
        </p:nvSpPr>
        <p:spPr>
          <a:xfrm>
            <a:off x="1005840" y="1371600"/>
            <a:ext cx="8046720" cy="4389120"/>
          </a:xfrm>
          <a:prstGeom prst="roundRect">
            <a:avLst/>
          </a:prstGeom>
          <a:solidFill>
            <a:srgbClr val="030A14"/>
          </a:solidFill>
          <a:ln>
            <a:solidFill>
              <a:srgbClr val="00DC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#include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Header.h</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int main()</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LibrarySystem</a:t>
            </a:r>
            <a:r>
              <a:rPr kumimoji="0" lang="en-US" sz="2200" b="0" i="0" u="none" strike="noStrike" kern="1200" cap="none" spc="0" normalizeH="0" baseline="0" noProof="0" dirty="0">
                <a:ln>
                  <a:noFill/>
                </a:ln>
                <a:solidFill>
                  <a:srgbClr val="00FFDC"/>
                </a:solidFill>
                <a:effectLst/>
                <a:uLnTx/>
                <a:uFillTx/>
                <a:latin typeface="Calibri"/>
                <a:ea typeface="+mn-ea"/>
                <a:cs typeface="+mn-cs"/>
              </a:rPr>
              <a:t> system(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"data/books.txt",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"data/members.txt",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"data/records.txt"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system.run</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endParaRPr kumimoji="0" lang="en-US" sz="2200" b="0" i="0" u="none" strike="noStrike" kern="1200" cap="none" spc="0" normalizeH="0" baseline="0" noProof="0" dirty="0">
              <a:ln>
                <a:noFill/>
              </a:ln>
              <a:solidFill>
                <a:srgbClr val="00FFD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return 0;</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a:t>
            </a:r>
            <a:endParaRPr kumimoji="0" sz="2200" b="0" i="0" u="none" strike="noStrike" kern="1200" cap="none" spc="0" normalizeH="0" baseline="0" noProof="0" dirty="0">
              <a:ln>
                <a:noFill/>
              </a:ln>
              <a:solidFill>
                <a:srgbClr val="00FFDC"/>
              </a:solidFill>
              <a:effectLst/>
              <a:uLnTx/>
              <a:uFillTx/>
              <a:latin typeface="Calibri"/>
              <a:ea typeface="+mn-ea"/>
              <a:cs typeface="+mn-cs"/>
            </a:endParaRPr>
          </a:p>
        </p:txBody>
      </p:sp>
      <p:sp>
        <p:nvSpPr>
          <p:cNvPr id="5" name="TextBox 4"/>
          <p:cNvSpPr txBox="1"/>
          <p:nvPr/>
        </p:nvSpPr>
        <p:spPr>
          <a:xfrm>
            <a:off x="9326880" y="1554480"/>
            <a:ext cx="2468880" cy="36576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Starts Program</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Creates LibrarySystem</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Loads Data Files</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Calls system.run()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423"/>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54864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a:ln>
                  <a:noFill/>
                </a:ln>
                <a:solidFill>
                  <a:srgbClr val="FFFFFF"/>
                </a:solidFill>
                <a:effectLst/>
                <a:uLnTx/>
                <a:uFillTx/>
                <a:latin typeface="Calibri"/>
                <a:ea typeface="+mn-ea"/>
                <a:cs typeface="+mn-cs"/>
              </a:rPr>
              <a:t>Demo: Implement.cpp</a:t>
            </a:r>
          </a:p>
        </p:txBody>
      </p:sp>
      <p:sp>
        <p:nvSpPr>
          <p:cNvPr id="3" name="TextBox 2"/>
          <p:cNvSpPr txBox="1"/>
          <p:nvPr/>
        </p:nvSpPr>
        <p:spPr>
          <a:xfrm>
            <a:off x="2194560" y="813163"/>
            <a:ext cx="54864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a:solidFill>
                  <a:srgbClr val="DCDCDC"/>
                </a:solidFill>
              </a:defRPr>
            </a:pPr>
            <a:r>
              <a:rPr kumimoji="0" sz="1400" b="0" i="0" u="none" strike="noStrike" kern="1200" cap="none" spc="0" normalizeH="0" baseline="0" noProof="0" dirty="0">
                <a:ln>
                  <a:noFill/>
                </a:ln>
                <a:solidFill>
                  <a:srgbClr val="DCDCDC"/>
                </a:solidFill>
                <a:effectLst/>
                <a:uLnTx/>
                <a:uFillTx/>
                <a:latin typeface="Calibri"/>
                <a:ea typeface="+mn-ea"/>
                <a:cs typeface="+mn-cs"/>
              </a:rPr>
              <a:t>Business Logic Implementation</a:t>
            </a:r>
          </a:p>
        </p:txBody>
      </p:sp>
      <p:sp>
        <p:nvSpPr>
          <p:cNvPr id="4" name="Rounded Rectangle 3"/>
          <p:cNvSpPr/>
          <p:nvPr/>
        </p:nvSpPr>
        <p:spPr>
          <a:xfrm>
            <a:off x="396241" y="1143000"/>
            <a:ext cx="8904514" cy="5577840"/>
          </a:xfrm>
          <a:prstGeom prst="roundRect">
            <a:avLst/>
          </a:prstGeom>
          <a:solidFill>
            <a:srgbClr val="030A14"/>
          </a:solidFill>
          <a:ln>
            <a:solidFill>
              <a:srgbClr val="00DC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void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LibrarySystem</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addBook</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books. push_ back(Book(id, title, author, category));</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saveBooks</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cout</a:t>
            </a:r>
            <a:r>
              <a:rPr kumimoji="0" lang="en-US" sz="2200" b="0" i="0" u="none" strike="noStrike" kern="1200" cap="none" spc="0" normalizeH="0" baseline="0" noProof="0" dirty="0">
                <a:ln>
                  <a:noFill/>
                </a:ln>
                <a:solidFill>
                  <a:srgbClr val="00FFDC"/>
                </a:solidFill>
                <a:effectLst/>
                <a:uLnTx/>
                <a:uFillTx/>
                <a:latin typeface="Calibri"/>
                <a:ea typeface="+mn-ea"/>
                <a:cs typeface="+mn-cs"/>
              </a:rPr>
              <a:t>&lt;&lt;"Book added successfully.";</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endParaRPr kumimoji="0" lang="en-US" sz="2200" b="0" i="0" u="none" strike="noStrike" kern="1200" cap="none" spc="0" normalizeH="0" baseline="0" noProof="0" dirty="0">
              <a:ln>
                <a:noFill/>
              </a:ln>
              <a:solidFill>
                <a:srgbClr val="00FFD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void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LibrarySystem</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borrowBook</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books[</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bIndex</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setAvailable</a:t>
            </a:r>
            <a:r>
              <a:rPr kumimoji="0" lang="en-US" sz="2200" b="0" i="0" u="none" strike="noStrike" kern="1200" cap="none" spc="0" normalizeH="0" baseline="0" noProof="0" dirty="0">
                <a:ln>
                  <a:noFill/>
                </a:ln>
                <a:solidFill>
                  <a:srgbClr val="00FFDC"/>
                </a:solidFill>
                <a:effectLst/>
                <a:uLnTx/>
                <a:uFillTx/>
                <a:latin typeface="Calibri"/>
                <a:ea typeface="+mn-ea"/>
                <a:cs typeface="+mn-cs"/>
              </a:rPr>
              <a:t>(false);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books[</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bIndex</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increaseBorrowCount</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saveBooks</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saveMembers</a:t>
            </a: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saveRecords</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a:t>
            </a:r>
            <a:endParaRPr kumimoji="0" sz="2200" b="0" i="0" u="none" strike="noStrike" kern="1200" cap="none" spc="0" normalizeH="0" baseline="0" noProof="0" dirty="0">
              <a:ln>
                <a:noFill/>
              </a:ln>
              <a:solidFill>
                <a:srgbClr val="00FFDC"/>
              </a:solidFill>
              <a:effectLst/>
              <a:uLnTx/>
              <a:uFillTx/>
              <a:latin typeface="Calibri"/>
              <a:ea typeface="+mn-ea"/>
              <a:cs typeface="+mn-cs"/>
            </a:endParaRPr>
          </a:p>
        </p:txBody>
      </p:sp>
      <p:sp>
        <p:nvSpPr>
          <p:cNvPr id="5" name="TextBox 4"/>
          <p:cNvSpPr txBox="1"/>
          <p:nvPr/>
        </p:nvSpPr>
        <p:spPr>
          <a:xfrm>
            <a:off x="9659982" y="2413337"/>
            <a:ext cx="2135777" cy="1015663"/>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dirty="0">
                <a:ln>
                  <a:noFill/>
                </a:ln>
                <a:solidFill>
                  <a:srgbClr val="FFFFFF"/>
                </a:solidFill>
                <a:effectLst/>
                <a:uLnTx/>
                <a:uFillTx/>
                <a:latin typeface="Calibri"/>
                <a:ea typeface="+mn-ea"/>
                <a:cs typeface="+mn-cs"/>
              </a:rPr>
              <a:t>✔ Add Book</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dirty="0">
                <a:ln>
                  <a:noFill/>
                </a:ln>
                <a:solidFill>
                  <a:srgbClr val="FFFFFF"/>
                </a:solidFill>
                <a:effectLst/>
                <a:uLnTx/>
                <a:uFillTx/>
                <a:latin typeface="Calibri"/>
                <a:ea typeface="+mn-ea"/>
                <a:cs typeface="+mn-cs"/>
              </a:rPr>
              <a:t>✔ Borrow / Return</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endParaRPr kumimoji="0" sz="2000" b="0" i="0" u="none" strike="noStrike" kern="1200" cap="none" spc="0" normalizeH="0" baseline="0" noProof="0" dirty="0">
              <a:ln>
                <a:noFill/>
              </a:ln>
              <a:solidFill>
                <a:srgbClr val="FFFFFF"/>
              </a:solidFill>
              <a:effectLst/>
              <a:uLnTx/>
              <a:uFillTx/>
              <a:latin typeface="Calibri"/>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423"/>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54864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a:ln>
                  <a:noFill/>
                </a:ln>
                <a:solidFill>
                  <a:srgbClr val="FFFFFF"/>
                </a:solidFill>
                <a:effectLst/>
                <a:uLnTx/>
                <a:uFillTx/>
                <a:latin typeface="Calibri"/>
                <a:ea typeface="+mn-ea"/>
                <a:cs typeface="+mn-cs"/>
              </a:rPr>
              <a:t>Demo: Implement.cpp</a:t>
            </a:r>
          </a:p>
        </p:txBody>
      </p:sp>
      <p:sp>
        <p:nvSpPr>
          <p:cNvPr id="3" name="TextBox 2"/>
          <p:cNvSpPr txBox="1"/>
          <p:nvPr/>
        </p:nvSpPr>
        <p:spPr>
          <a:xfrm>
            <a:off x="2194560" y="813163"/>
            <a:ext cx="54864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a:solidFill>
                  <a:srgbClr val="DCDCDC"/>
                </a:solidFill>
              </a:defRPr>
            </a:pPr>
            <a:r>
              <a:rPr kumimoji="0" sz="1400" b="0" i="0" u="none" strike="noStrike" kern="1200" cap="none" spc="0" normalizeH="0" baseline="0" noProof="0" dirty="0">
                <a:ln>
                  <a:noFill/>
                </a:ln>
                <a:solidFill>
                  <a:srgbClr val="DCDCDC"/>
                </a:solidFill>
                <a:effectLst/>
                <a:uLnTx/>
                <a:uFillTx/>
                <a:latin typeface="Calibri"/>
                <a:ea typeface="+mn-ea"/>
                <a:cs typeface="+mn-cs"/>
              </a:rPr>
              <a:t>Business Logic Implementation</a:t>
            </a:r>
          </a:p>
        </p:txBody>
      </p:sp>
      <p:sp>
        <p:nvSpPr>
          <p:cNvPr id="4" name="Rounded Rectangle 3"/>
          <p:cNvSpPr/>
          <p:nvPr/>
        </p:nvSpPr>
        <p:spPr>
          <a:xfrm>
            <a:off x="396241" y="1143000"/>
            <a:ext cx="8904514" cy="5577840"/>
          </a:xfrm>
          <a:prstGeom prst="roundRect">
            <a:avLst/>
          </a:prstGeom>
          <a:solidFill>
            <a:srgbClr val="030A14"/>
          </a:solidFill>
          <a:ln>
            <a:solidFill>
              <a:srgbClr val="00DC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void </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LibrarySystem</a:t>
            </a:r>
            <a:r>
              <a:rPr kumimoji="0" lang="en-US" sz="2200" b="0" i="0" u="none" strike="noStrike" kern="1200" cap="none" spc="0" normalizeH="0" baseline="0" noProof="0" dirty="0">
                <a:ln>
                  <a:noFill/>
                </a:ln>
                <a:solidFill>
                  <a:srgbClr val="00FFDC"/>
                </a:solidFill>
                <a:effectLst/>
                <a:uLnTx/>
                <a:uFillTx/>
                <a:latin typeface="Calibri"/>
                <a:ea typeface="+mn-ea"/>
                <a:cs typeface="+mn-cs"/>
              </a:rPr>
              <a:t>::</a:t>
            </a:r>
            <a:r>
              <a:rPr kumimoji="0" lang="en-US" sz="2200" b="0" i="0" u="none" strike="noStrike" kern="1200" cap="none" spc="0" normalizeH="0" baseline="0" noProof="0" dirty="0" err="1">
                <a:ln>
                  <a:noFill/>
                </a:ln>
                <a:solidFill>
                  <a:srgbClr val="00FFDC"/>
                </a:solidFill>
                <a:effectLst/>
                <a:uLnTx/>
                <a:uFillTx/>
                <a:latin typeface="Calibri"/>
                <a:ea typeface="+mn-ea"/>
                <a:cs typeface="+mn-cs"/>
              </a:rPr>
              <a:t>analyticsDashboard</a:t>
            </a:r>
            <a:r>
              <a:rPr kumimoji="0" lang="en-US" sz="2200" b="0" i="0" u="none" strike="noStrike" kern="1200" cap="none" spc="0" normalizeH="0" baseline="0" noProof="0" dirty="0">
                <a:ln>
                  <a:noFill/>
                </a:ln>
                <a:solidFill>
                  <a:srgbClr val="00FFDC"/>
                </a:solidFill>
                <a:effectLst/>
                <a:uLnTx/>
                <a:uFillTx/>
                <a:latin typeface="Calibri"/>
                <a:ea typeface="+mn-ea"/>
                <a:cs typeface="+mn-cs"/>
              </a:rPr>
              <a:t>() const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2200" b="0" i="0" u="none" strike="noStrike" kern="1200" cap="none" spc="0" normalizeH="0" baseline="0" noProof="0" dirty="0">
                <a:ln>
                  <a:noFill/>
                </a:ln>
                <a:solidFill>
                  <a:srgbClr val="00FFDC"/>
                </a:solidFill>
                <a:effectLst/>
                <a:uLnTx/>
                <a:uFillTx/>
                <a:latin typeface="Calibri"/>
                <a:ea typeface="+mn-ea"/>
                <a:cs typeface="+mn-cs"/>
              </a:rPr>
              <a:t>}</a:t>
            </a:r>
            <a:endParaRPr kumimoji="0" sz="2200" b="0" i="0" u="none" strike="noStrike" kern="1200" cap="none" spc="0" normalizeH="0" baseline="0" noProof="0" dirty="0">
              <a:ln>
                <a:noFill/>
              </a:ln>
              <a:solidFill>
                <a:srgbClr val="00FFDC"/>
              </a:solidFill>
              <a:effectLst/>
              <a:uLnTx/>
              <a:uFillTx/>
              <a:latin typeface="Calibri"/>
              <a:ea typeface="+mn-ea"/>
              <a:cs typeface="+mn-cs"/>
            </a:endParaRPr>
          </a:p>
        </p:txBody>
      </p:sp>
      <p:sp>
        <p:nvSpPr>
          <p:cNvPr id="5" name="TextBox 4"/>
          <p:cNvSpPr txBox="1"/>
          <p:nvPr/>
        </p:nvSpPr>
        <p:spPr>
          <a:xfrm>
            <a:off x="9326880" y="2275840"/>
            <a:ext cx="2574103" cy="40011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dirty="0">
                <a:ln>
                  <a:noFill/>
                </a:ln>
                <a:solidFill>
                  <a:srgbClr val="FFFFFF"/>
                </a:solidFill>
                <a:effectLst/>
                <a:uLnTx/>
                <a:uFillTx/>
                <a:latin typeface="Calibri"/>
                <a:ea typeface="+mn-ea"/>
                <a:cs typeface="+mn-cs"/>
              </a:rPr>
              <a:t>✔ Analytics Dashboard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423"/>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5486400" cy="54864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a:ln>
                  <a:noFill/>
                </a:ln>
                <a:solidFill>
                  <a:srgbClr val="FFFFFF"/>
                </a:solidFill>
                <a:effectLst/>
                <a:uLnTx/>
                <a:uFillTx/>
                <a:latin typeface="Calibri"/>
                <a:ea typeface="+mn-ea"/>
                <a:cs typeface="+mn-cs"/>
              </a:rPr>
              <a:t>Demo: Header.h</a:t>
            </a:r>
          </a:p>
        </p:txBody>
      </p:sp>
      <p:sp>
        <p:nvSpPr>
          <p:cNvPr id="3" name="TextBox 2"/>
          <p:cNvSpPr txBox="1"/>
          <p:nvPr/>
        </p:nvSpPr>
        <p:spPr>
          <a:xfrm>
            <a:off x="2194560" y="868680"/>
            <a:ext cx="5486400"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a:solidFill>
                  <a:srgbClr val="DCDCDC"/>
                </a:solidFill>
              </a:defRPr>
            </a:pPr>
            <a:r>
              <a:rPr kumimoji="0" sz="1400" b="0" i="0" u="none" strike="noStrike" kern="1200" cap="none" spc="0" normalizeH="0" baseline="0" noProof="0">
                <a:ln>
                  <a:noFill/>
                </a:ln>
                <a:solidFill>
                  <a:srgbClr val="DCDCDC"/>
                </a:solidFill>
                <a:effectLst/>
                <a:uLnTx/>
                <a:uFillTx/>
                <a:latin typeface="Calibri"/>
                <a:ea typeface="+mn-ea"/>
                <a:cs typeface="+mn-cs"/>
              </a:rPr>
              <a:t>Class Declaration &amp; System Design</a:t>
            </a:r>
          </a:p>
        </p:txBody>
      </p:sp>
      <p:sp>
        <p:nvSpPr>
          <p:cNvPr id="4" name="Rounded Rectangle 3"/>
          <p:cNvSpPr/>
          <p:nvPr/>
        </p:nvSpPr>
        <p:spPr>
          <a:xfrm>
            <a:off x="914399" y="1600200"/>
            <a:ext cx="8138161" cy="4871720"/>
          </a:xfrm>
          <a:prstGeom prst="roundRect">
            <a:avLst/>
          </a:prstGeom>
          <a:solidFill>
            <a:srgbClr val="030A14"/>
          </a:solidFill>
          <a:ln>
            <a:solidFill>
              <a:srgbClr val="00DC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class Book</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private: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int id;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string title;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string author;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string category;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bool available;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        int </a:t>
            </a:r>
            <a:r>
              <a:rPr kumimoji="0" lang="en-US" sz="1100" b="0" i="0" u="none" strike="noStrike" kern="1200" cap="none" spc="0" normalizeH="0" baseline="0" noProof="0" dirty="0" err="1">
                <a:ln>
                  <a:noFill/>
                </a:ln>
                <a:solidFill>
                  <a:srgbClr val="00FFDC"/>
                </a:solidFill>
                <a:effectLst/>
                <a:uLnTx/>
                <a:uFillTx/>
                <a:latin typeface="Calibri"/>
                <a:ea typeface="+mn-ea"/>
                <a:cs typeface="+mn-cs"/>
              </a:rPr>
              <a:t>borrowCount</a:t>
            </a:r>
            <a:r>
              <a:rPr kumimoji="0" lang="en-US" sz="1100" b="0" i="0" u="none" strike="noStrike" kern="1200" cap="none" spc="0" normalizeH="0" baseline="0" noProof="0" dirty="0">
                <a:ln>
                  <a:noFill/>
                </a:ln>
                <a:solidFill>
                  <a:srgbClr val="00FFDC"/>
                </a:solidFill>
                <a:effectLst/>
                <a:uLnTx/>
                <a:uFillTx/>
                <a:latin typeface="Calibri"/>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class Member</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class </a:t>
            </a:r>
            <a:r>
              <a:rPr kumimoji="0" lang="en-US" sz="1100" b="0" i="0" u="none" strike="noStrike" kern="1200" cap="none" spc="0" normalizeH="0" baseline="0" noProof="0" dirty="0" err="1">
                <a:ln>
                  <a:noFill/>
                </a:ln>
                <a:solidFill>
                  <a:srgbClr val="00FFDC"/>
                </a:solidFill>
                <a:effectLst/>
                <a:uLnTx/>
                <a:uFillTx/>
                <a:latin typeface="Calibri"/>
                <a:ea typeface="+mn-ea"/>
                <a:cs typeface="+mn-cs"/>
              </a:rPr>
              <a:t>BorrowRecord</a:t>
            </a:r>
            <a:endParaRPr kumimoji="0" lang="en-US" sz="1100" b="0" i="0" u="none" strike="noStrike" kern="1200" cap="none" spc="0" normalizeH="0" baseline="0" noProof="0" dirty="0">
              <a:ln>
                <a:noFill/>
              </a:ln>
              <a:solidFill>
                <a:srgbClr val="00FFD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class </a:t>
            </a:r>
            <a:r>
              <a:rPr kumimoji="0" lang="en-US" sz="1100" b="0" i="0" u="none" strike="noStrike" kern="1200" cap="none" spc="0" normalizeH="0" baseline="0" noProof="0" dirty="0" err="1">
                <a:ln>
                  <a:noFill/>
                </a:ln>
                <a:solidFill>
                  <a:srgbClr val="00FFDC"/>
                </a:solidFill>
                <a:effectLst/>
                <a:uLnTx/>
                <a:uFillTx/>
                <a:latin typeface="Calibri"/>
                <a:ea typeface="+mn-ea"/>
                <a:cs typeface="+mn-cs"/>
              </a:rPr>
              <a:t>SmartRecommender</a:t>
            </a:r>
            <a:endParaRPr kumimoji="0" lang="en-US" sz="1100" b="0" i="0" u="none" strike="noStrike" kern="1200" cap="none" spc="0" normalizeH="0" baseline="0" noProof="0" dirty="0">
              <a:ln>
                <a:noFill/>
              </a:ln>
              <a:solidFill>
                <a:srgbClr val="00FFD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class </a:t>
            </a:r>
            <a:r>
              <a:rPr kumimoji="0" lang="en-US" sz="1100" b="0" i="0" u="none" strike="noStrike" kern="1200" cap="none" spc="0" normalizeH="0" baseline="0" noProof="0" dirty="0" err="1">
                <a:ln>
                  <a:noFill/>
                </a:ln>
                <a:solidFill>
                  <a:srgbClr val="00FFDC"/>
                </a:solidFill>
                <a:effectLst/>
                <a:uLnTx/>
                <a:uFillTx/>
                <a:latin typeface="Calibri"/>
                <a:ea typeface="+mn-ea"/>
                <a:cs typeface="+mn-cs"/>
              </a:rPr>
              <a:t>LibrarySystem</a:t>
            </a:r>
            <a:endParaRPr kumimoji="0" lang="en-US" sz="1100" b="0" i="0" u="none" strike="noStrike" kern="1200" cap="none" spc="0" normalizeH="0" baseline="0" noProof="0" dirty="0">
              <a:ln>
                <a:noFill/>
              </a:ln>
              <a:solidFill>
                <a:srgbClr val="00FFDC"/>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sz="2200">
                <a:solidFill>
                  <a:srgbClr val="00FFDC"/>
                </a:solidFill>
              </a:defRPr>
            </a:pPr>
            <a:r>
              <a:rPr kumimoji="0" lang="en-US" sz="1100" b="0" i="0" u="none" strike="noStrike" kern="1200" cap="none" spc="0" normalizeH="0" baseline="0" noProof="0" dirty="0">
                <a:ln>
                  <a:noFill/>
                </a:ln>
                <a:solidFill>
                  <a:srgbClr val="00FFDC"/>
                </a:solidFill>
                <a:effectLst/>
                <a:uLnTx/>
                <a:uFillTx/>
                <a:latin typeface="Calibri"/>
                <a:ea typeface="+mn-ea"/>
                <a:cs typeface="+mn-cs"/>
              </a:rPr>
              <a:t>};</a:t>
            </a:r>
            <a:endParaRPr kumimoji="0" sz="1100" b="0" i="0" u="none" strike="noStrike" kern="1200" cap="none" spc="0" normalizeH="0" baseline="0" noProof="0" dirty="0">
              <a:ln>
                <a:noFill/>
              </a:ln>
              <a:solidFill>
                <a:srgbClr val="00FFDC"/>
              </a:solidFill>
              <a:effectLst/>
              <a:uLnTx/>
              <a:uFillTx/>
              <a:latin typeface="Calibri"/>
              <a:ea typeface="+mn-ea"/>
              <a:cs typeface="+mn-cs"/>
            </a:endParaRPr>
          </a:p>
        </p:txBody>
      </p:sp>
      <p:sp>
        <p:nvSpPr>
          <p:cNvPr id="5" name="TextBox 4"/>
          <p:cNvSpPr txBox="1"/>
          <p:nvPr/>
        </p:nvSpPr>
        <p:spPr>
          <a:xfrm>
            <a:off x="9326880" y="1554480"/>
            <a:ext cx="2468880" cy="36576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Book Class</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Member Class</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BorrowRecord</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SmartRecommender</a:t>
            </a:r>
          </a:p>
          <a:p>
            <a:pPr marL="0" marR="0" lvl="0" indent="0" algn="l" defTabSz="457200" rtl="0" eaLnBrk="1" fontAlgn="auto" latinLnBrk="0" hangingPunct="1">
              <a:lnSpc>
                <a:spcPct val="100000"/>
              </a:lnSpc>
              <a:spcBef>
                <a:spcPts val="0"/>
              </a:spcBef>
              <a:spcAft>
                <a:spcPts val="0"/>
              </a:spcAft>
              <a:buClrTx/>
              <a:buSzTx/>
              <a:buFontTx/>
              <a:buNone/>
              <a:tabLst/>
              <a:defRPr sz="2000">
                <a:solidFill>
                  <a:srgbClr val="FFFFFF"/>
                </a:solidFill>
              </a:defRPr>
            </a:pPr>
            <a:r>
              <a:rPr kumimoji="0" sz="2000" b="0" i="0" u="none" strike="noStrike" kern="1200" cap="none" spc="0" normalizeH="0" baseline="0" noProof="0">
                <a:ln>
                  <a:noFill/>
                </a:ln>
                <a:solidFill>
                  <a:srgbClr val="FFFFFF"/>
                </a:solidFill>
                <a:effectLst/>
                <a:uLnTx/>
                <a:uFillTx/>
                <a:latin typeface="Calibri"/>
                <a:ea typeface="+mn-ea"/>
                <a:cs typeface="+mn-cs"/>
              </a:rPr>
              <a:t>✔ LibrarySystem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Demo: Main Menu</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A clear console interface for presentation demonstration</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960120" y="1417320"/>
            <a:ext cx="10241280" cy="4389120"/>
          </a:xfrm>
          <a:prstGeom prst="roundRect">
            <a:avLst>
              <a:gd name="adj" fmla="val 4167"/>
            </a:avLst>
          </a:prstGeom>
          <a:solidFill>
            <a:srgbClr val="020A12"/>
          </a:solidFill>
          <a:ln w="1778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1371600" y="1737360"/>
            <a:ext cx="9418320" cy="361188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 NEO LIBRARY  FUTURE LIBRARY SYSTEM ======</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1. Add Book</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2. Add Member</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3. Show All Books</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4. Show All Members</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5. Search Book</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6. Borrow Book</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7. Return Book</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8. Borrow/Return History</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9. Smart Recommendation</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10. Analytics Dashboard</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0. Exit</a:t>
            </a:r>
            <a:endParaRPr kumimoji="0" lang="en-US" sz="15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Reliability &amp; Error Handling</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The system protects data from invalid operations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822960" y="1600200"/>
            <a:ext cx="2560320" cy="1234440"/>
          </a:xfrm>
          <a:prstGeom prst="roundRect">
            <a:avLst>
              <a:gd name="adj" fmla="val 1333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987552" y="1691640"/>
            <a:ext cx="22311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1060704" y="1847088"/>
            <a:ext cx="20848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Duplicate ID</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1060704" y="2295144"/>
            <a:ext cx="2084832" cy="365760"/>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Prevents adding a book or member with the same ID.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3611880" y="1600200"/>
            <a:ext cx="2560320" cy="1234440"/>
          </a:xfrm>
          <a:prstGeom prst="roundRect">
            <a:avLst>
              <a:gd name="adj" fmla="val 1333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3776472" y="1691640"/>
            <a:ext cx="223113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3849624" y="1847088"/>
            <a:ext cx="20848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Invalid Search</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3849624" y="2295144"/>
            <a:ext cx="2084832" cy="365760"/>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Shows “not found” without stopping the program.</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6400800" y="1600200"/>
            <a:ext cx="2560320" cy="1234440"/>
          </a:xfrm>
          <a:prstGeom prst="roundRect">
            <a:avLst>
              <a:gd name="adj" fmla="val 1333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6565392" y="1691640"/>
            <a:ext cx="2231136" cy="0"/>
          </a:xfrm>
          <a:prstGeom prst="line">
            <a:avLst/>
          </a:prstGeom>
          <a:noFill/>
          <a:ln w="2794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6638544" y="1847088"/>
            <a:ext cx="20848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Borrow Conflict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6638544" y="2295144"/>
            <a:ext cx="2084832" cy="365760"/>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Stops borrowing if a book is unavailable.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9189720" y="1600200"/>
            <a:ext cx="2103120" cy="1234440"/>
          </a:xfrm>
          <a:prstGeom prst="roundRect">
            <a:avLst>
              <a:gd name="adj" fmla="val 13333"/>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9354312" y="1691640"/>
            <a:ext cx="17739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9427464" y="1847088"/>
            <a:ext cx="1627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Safe Return</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9427464" y="2295144"/>
            <a:ext cx="1627632" cy="365760"/>
          </a:xfrm>
          <a:prstGeom prst="rect">
            <a:avLst/>
          </a:prstGeom>
          <a:noFill/>
          <a:ln/>
        </p:spPr>
        <p:txBody>
          <a:bodyPr wrap="square" rtlCol="0" anchor="ct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Stops returning a book already available.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1143000" y="3977640"/>
            <a:ext cx="9875520" cy="914400"/>
          </a:xfrm>
          <a:prstGeom prst="roundRect">
            <a:avLst>
              <a:gd name="adj" fmla="val 15000"/>
            </a:avLst>
          </a:prstGeom>
          <a:solidFill>
            <a:srgbClr val="020A12"/>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Text 24"/>
          <p:cNvSpPr/>
          <p:nvPr/>
        </p:nvSpPr>
        <p:spPr>
          <a:xfrm>
            <a:off x="1417320" y="4315968"/>
            <a:ext cx="9326880" cy="237744"/>
          </a:xfrm>
          <a:prstGeom prst="rect">
            <a:avLst/>
          </a:prstGeom>
          <a:noFill/>
          <a:ln/>
        </p:spPr>
        <p:txBody>
          <a:bodyPr wrap="square" rtlCol="0" anchor="ct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21E6A8"/>
                </a:solidFill>
                <a:effectLst/>
                <a:uLnTx/>
                <a:uFillTx/>
                <a:latin typeface="Consolas" pitchFamily="34" charset="0"/>
                <a:ea typeface="Consolas" pitchFamily="34" charset="-122"/>
                <a:cs typeface="Consolas" pitchFamily="34" charset="-120"/>
              </a:rPr>
              <a:t>try { operation(); } catch (const exception&amp; e) { cout &lt;&lt; "Error: " &lt;&lt; e.what(); }</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Audience Interaction</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A short question to make the presentation active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1097280" y="1508760"/>
            <a:ext cx="987552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1D9F6"/>
                </a:solidFill>
                <a:effectLst/>
                <a:uLnTx/>
                <a:uFillTx/>
                <a:latin typeface="Aptos"/>
                <a:ea typeface="+mn-ea"/>
                <a:cs typeface="+mn-cs"/>
              </a:rPr>
              <a:t>Question for the class:</a:t>
            </a:r>
            <a:endParaRPr kumimoji="0" lang="en-US" sz="26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Text 8"/>
          <p:cNvSpPr/>
          <p:nvPr/>
        </p:nvSpPr>
        <p:spPr>
          <a:xfrm>
            <a:off x="1097280" y="2057400"/>
            <a:ext cx="9875520" cy="384048"/>
          </a:xfrm>
          <a:prstGeom prst="rect">
            <a:avLst/>
          </a:prstGeom>
          <a:noFill/>
          <a:ln/>
        </p:spPr>
        <p:txBody>
          <a:bodyPr wrap="square"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6F8FB"/>
                </a:solidFill>
                <a:effectLst/>
                <a:uLnTx/>
                <a:uFillTx/>
                <a:latin typeface="Aptos"/>
                <a:ea typeface="+mn-ea"/>
                <a:cs typeface="+mn-cs"/>
              </a:rPr>
              <a:t>If KCGI library became smart, which feature would you choose first?</a:t>
            </a:r>
            <a:endParaRPr kumimoji="0" lang="en-US" sz="22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1051560" y="2971800"/>
            <a:ext cx="4389120" cy="777240"/>
          </a:xfrm>
          <a:prstGeom prst="roundRect">
            <a:avLst>
              <a:gd name="adj" fmla="val 21176"/>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Shape 10"/>
          <p:cNvSpPr/>
          <p:nvPr/>
        </p:nvSpPr>
        <p:spPr>
          <a:xfrm>
            <a:off x="1216152" y="3063240"/>
            <a:ext cx="405993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3" name="Text 11"/>
          <p:cNvSpPr/>
          <p:nvPr/>
        </p:nvSpPr>
        <p:spPr>
          <a:xfrm>
            <a:off x="1289304" y="3218688"/>
            <a:ext cx="3913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 AI book recommendation</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2"/>
          <p:cNvSpPr/>
          <p:nvPr/>
        </p:nvSpPr>
        <p:spPr>
          <a:xfrm>
            <a:off x="1289304" y="3666744"/>
            <a:ext cx="3913632" cy="0"/>
          </a:xfrm>
          <a:prstGeom prst="rect">
            <a:avLst/>
          </a:prstGeom>
          <a:noFill/>
          <a:ln/>
        </p:spPr>
        <p:txBody>
          <a:bodyPr wrap="square" rtlCol="0"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6263640" y="2971800"/>
            <a:ext cx="4389120" cy="777240"/>
          </a:xfrm>
          <a:prstGeom prst="roundRect">
            <a:avLst>
              <a:gd name="adj" fmla="val 21176"/>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Shape 14"/>
          <p:cNvSpPr/>
          <p:nvPr/>
        </p:nvSpPr>
        <p:spPr>
          <a:xfrm>
            <a:off x="6428232" y="3063240"/>
            <a:ext cx="405993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7" name="Text 15"/>
          <p:cNvSpPr/>
          <p:nvPr/>
        </p:nvSpPr>
        <p:spPr>
          <a:xfrm>
            <a:off x="6501384" y="3218688"/>
            <a:ext cx="3913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B. QR checkout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501384" y="3666744"/>
            <a:ext cx="3913632" cy="0"/>
          </a:xfrm>
          <a:prstGeom prst="rect">
            <a:avLst/>
          </a:prstGeom>
          <a:noFill/>
          <a:ln/>
        </p:spPr>
        <p:txBody>
          <a:bodyPr wrap="square" rtlCol="0"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1051560" y="4206240"/>
            <a:ext cx="4389120" cy="777240"/>
          </a:xfrm>
          <a:prstGeom prst="roundRect">
            <a:avLst>
              <a:gd name="adj" fmla="val 21176"/>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Shape 18"/>
          <p:cNvSpPr/>
          <p:nvPr/>
        </p:nvSpPr>
        <p:spPr>
          <a:xfrm>
            <a:off x="1216152" y="4297680"/>
            <a:ext cx="405993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1289304" y="4453128"/>
            <a:ext cx="3913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C. Smart shelves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Text 20"/>
          <p:cNvSpPr/>
          <p:nvPr/>
        </p:nvSpPr>
        <p:spPr>
          <a:xfrm>
            <a:off x="1289304" y="4901184"/>
            <a:ext cx="3913632" cy="0"/>
          </a:xfrm>
          <a:prstGeom prst="rect">
            <a:avLst/>
          </a:prstGeom>
          <a:noFill/>
          <a:ln/>
        </p:spPr>
        <p:txBody>
          <a:bodyPr wrap="square" rtlCol="0"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Shape 21"/>
          <p:cNvSpPr/>
          <p:nvPr/>
        </p:nvSpPr>
        <p:spPr>
          <a:xfrm>
            <a:off x="6263640" y="4206240"/>
            <a:ext cx="4389120" cy="777240"/>
          </a:xfrm>
          <a:prstGeom prst="roundRect">
            <a:avLst>
              <a:gd name="adj" fmla="val 21176"/>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4" name="Shape 22"/>
          <p:cNvSpPr/>
          <p:nvPr/>
        </p:nvSpPr>
        <p:spPr>
          <a:xfrm>
            <a:off x="6428232" y="4297680"/>
            <a:ext cx="405993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5" name="Text 23"/>
          <p:cNvSpPr/>
          <p:nvPr/>
        </p:nvSpPr>
        <p:spPr>
          <a:xfrm>
            <a:off x="6501384" y="4453128"/>
            <a:ext cx="391363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D. Learning analytics</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Text 24"/>
          <p:cNvSpPr/>
          <p:nvPr/>
        </p:nvSpPr>
        <p:spPr>
          <a:xfrm>
            <a:off x="6501384" y="4901184"/>
            <a:ext cx="3913632" cy="0"/>
          </a:xfrm>
          <a:prstGeom prst="rect">
            <a:avLst/>
          </a:prstGeom>
          <a:noFill/>
          <a:ln/>
        </p:spPr>
        <p:txBody>
          <a:bodyPr wrap="square" rtlCol="0" anchor="ct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Future Enhancements</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How this C++ prototype can grow into a real smart platform</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777240" y="15087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Shape 8"/>
          <p:cNvSpPr/>
          <p:nvPr/>
        </p:nvSpPr>
        <p:spPr>
          <a:xfrm>
            <a:off x="941832" y="1600200"/>
            <a:ext cx="2825496" cy="0"/>
          </a:xfrm>
          <a:prstGeom prst="line">
            <a:avLst/>
          </a:prstGeom>
          <a:noFill/>
          <a:ln w="2794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9"/>
          <p:cNvSpPr/>
          <p:nvPr/>
        </p:nvSpPr>
        <p:spPr>
          <a:xfrm>
            <a:off x="1014984" y="17556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Database</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10"/>
          <p:cNvSpPr/>
          <p:nvPr/>
        </p:nvSpPr>
        <p:spPr>
          <a:xfrm>
            <a:off x="1014984" y="2203704"/>
            <a:ext cx="2679192" cy="2743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Replace text files with MySQL or SQLite</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4526280" y="15087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Shape 12"/>
          <p:cNvSpPr/>
          <p:nvPr/>
        </p:nvSpPr>
        <p:spPr>
          <a:xfrm>
            <a:off x="4690872" y="1600200"/>
            <a:ext cx="2825496" cy="0"/>
          </a:xfrm>
          <a:prstGeom prst="line">
            <a:avLst/>
          </a:prstGeom>
          <a:noFill/>
          <a:ln w="2794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Text 13"/>
          <p:cNvSpPr/>
          <p:nvPr/>
        </p:nvSpPr>
        <p:spPr>
          <a:xfrm>
            <a:off x="4764024" y="17556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GUI</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4"/>
          <p:cNvSpPr/>
          <p:nvPr/>
        </p:nvSpPr>
        <p:spPr>
          <a:xfrm>
            <a:off x="4764024" y="2203704"/>
            <a:ext cx="2679192" cy="274320"/>
          </a:xfrm>
          <a:prstGeom prst="rect">
            <a:avLst/>
          </a:prstGeom>
          <a:noFill/>
          <a:ln/>
        </p:spPr>
        <p:txBody>
          <a:bodyPr wrap="square"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Build desktop interface using Qt or web frontend</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8275320" y="15087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Shape 16"/>
          <p:cNvSpPr/>
          <p:nvPr/>
        </p:nvSpPr>
        <p:spPr>
          <a:xfrm>
            <a:off x="8439912" y="1600200"/>
            <a:ext cx="2825496" cy="0"/>
          </a:xfrm>
          <a:prstGeom prst="line">
            <a:avLst/>
          </a:prstGeom>
          <a:noFill/>
          <a:ln w="27940">
            <a:solidFill>
              <a:srgbClr val="2B6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9" name="Text 17"/>
          <p:cNvSpPr/>
          <p:nvPr/>
        </p:nvSpPr>
        <p:spPr>
          <a:xfrm>
            <a:off x="8513064" y="17556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Login</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8"/>
          <p:cNvSpPr/>
          <p:nvPr/>
        </p:nvSpPr>
        <p:spPr>
          <a:xfrm>
            <a:off x="8513064" y="2203704"/>
            <a:ext cx="2679192" cy="2743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Admin/member authentication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Shape 19"/>
          <p:cNvSpPr/>
          <p:nvPr/>
        </p:nvSpPr>
        <p:spPr>
          <a:xfrm>
            <a:off x="777240" y="33375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2" name="Shape 20"/>
          <p:cNvSpPr/>
          <p:nvPr/>
        </p:nvSpPr>
        <p:spPr>
          <a:xfrm>
            <a:off x="941832" y="3429000"/>
            <a:ext cx="2825496" cy="0"/>
          </a:xfrm>
          <a:prstGeom prst="line">
            <a:avLst/>
          </a:prstGeom>
          <a:noFill/>
          <a:ln w="2794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3" name="Text 21"/>
          <p:cNvSpPr/>
          <p:nvPr/>
        </p:nvSpPr>
        <p:spPr>
          <a:xfrm>
            <a:off x="1014984" y="35844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IoT</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4" name="Text 22"/>
          <p:cNvSpPr/>
          <p:nvPr/>
        </p:nvSpPr>
        <p:spPr>
          <a:xfrm>
            <a:off x="1014984" y="4032504"/>
            <a:ext cx="2679192" cy="274320"/>
          </a:xfrm>
          <a:prstGeom prst="rect">
            <a:avLst/>
          </a:prstGeom>
          <a:noFill/>
          <a:ln/>
        </p:spPr>
        <p:txBody>
          <a:bodyPr wrap="square"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Connect smart shelves and RFID sensors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Shape 23"/>
          <p:cNvSpPr/>
          <p:nvPr/>
        </p:nvSpPr>
        <p:spPr>
          <a:xfrm>
            <a:off x="4526280" y="33375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6" name="Shape 24"/>
          <p:cNvSpPr/>
          <p:nvPr/>
        </p:nvSpPr>
        <p:spPr>
          <a:xfrm>
            <a:off x="4690872" y="3429000"/>
            <a:ext cx="2825496" cy="0"/>
          </a:xfrm>
          <a:prstGeom prst="line">
            <a:avLst/>
          </a:prstGeom>
          <a:noFill/>
          <a:ln w="2794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7" name="Text 25"/>
          <p:cNvSpPr/>
          <p:nvPr/>
        </p:nvSpPr>
        <p:spPr>
          <a:xfrm>
            <a:off x="4764024" y="35844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AI</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28" name="Text 26"/>
          <p:cNvSpPr/>
          <p:nvPr/>
        </p:nvSpPr>
        <p:spPr>
          <a:xfrm>
            <a:off x="4764024" y="4032504"/>
            <a:ext cx="2679192" cy="2743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Use machine learning recommendation</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Shape 27"/>
          <p:cNvSpPr/>
          <p:nvPr/>
        </p:nvSpPr>
        <p:spPr>
          <a:xfrm>
            <a:off x="8275320" y="3337560"/>
            <a:ext cx="3154680" cy="1143000"/>
          </a:xfrm>
          <a:prstGeom prst="roundRect">
            <a:avLst>
              <a:gd name="adj" fmla="val 14400"/>
            </a:avLst>
          </a:prstGeom>
          <a:solidFill>
            <a:srgbClr val="0E2238">
              <a:alpha val="96000"/>
            </a:srgbClr>
          </a:solidFill>
          <a:ln w="12700">
            <a:solidFill>
              <a:srgbClr val="24415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0" name="Shape 28"/>
          <p:cNvSpPr/>
          <p:nvPr/>
        </p:nvSpPr>
        <p:spPr>
          <a:xfrm>
            <a:off x="8439912" y="3429000"/>
            <a:ext cx="2825496" cy="0"/>
          </a:xfrm>
          <a:prstGeom prst="line">
            <a:avLst/>
          </a:prstGeom>
          <a:noFill/>
          <a:ln w="27940">
            <a:solidFill>
              <a:srgbClr val="FF5C7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1" name="Text 29"/>
          <p:cNvSpPr/>
          <p:nvPr/>
        </p:nvSpPr>
        <p:spPr>
          <a:xfrm>
            <a:off x="8513064" y="3584448"/>
            <a:ext cx="2679192" cy="301752"/>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F6F8FB"/>
                </a:solidFill>
                <a:effectLst/>
                <a:uLnTx/>
                <a:uFillTx/>
                <a:latin typeface="Aptos"/>
                <a:ea typeface="+mn-ea"/>
                <a:cs typeface="+mn-cs"/>
              </a:rPr>
              <a:t>Cloud</a:t>
            </a:r>
            <a:endParaRPr kumimoji="0" lang="en-US" sz="1650" b="0" i="0" u="none" strike="noStrike" kern="1200" cap="none" spc="0" normalizeH="0" baseline="0" noProof="0" dirty="0">
              <a:ln>
                <a:noFill/>
              </a:ln>
              <a:solidFill>
                <a:prstClr val="black"/>
              </a:solidFill>
              <a:effectLst/>
              <a:uLnTx/>
              <a:uFillTx/>
              <a:latin typeface="Aptos"/>
              <a:ea typeface="+mn-ea"/>
              <a:cs typeface="+mn-cs"/>
            </a:endParaRPr>
          </a:p>
        </p:txBody>
      </p:sp>
      <p:sp>
        <p:nvSpPr>
          <p:cNvPr id="32" name="Text 30"/>
          <p:cNvSpPr/>
          <p:nvPr/>
        </p:nvSpPr>
        <p:spPr>
          <a:xfrm>
            <a:off x="8513064" y="4032504"/>
            <a:ext cx="2679192" cy="274320"/>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B9C8D6"/>
                </a:solidFill>
                <a:effectLst/>
                <a:uLnTx/>
                <a:uFillTx/>
                <a:latin typeface="Aptos"/>
                <a:ea typeface="+mn-ea"/>
                <a:cs typeface="+mn-cs"/>
              </a:rPr>
              <a:t>Synchronize data across devices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Text 31"/>
          <p:cNvSpPr/>
          <p:nvPr/>
        </p:nvSpPr>
        <p:spPr>
          <a:xfrm>
            <a:off x="1463040" y="5486400"/>
            <a:ext cx="923544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6F8FB"/>
                </a:solidFill>
                <a:effectLst/>
                <a:uLnTx/>
                <a:uFillTx/>
                <a:latin typeface="Aptos"/>
                <a:ea typeface="+mn-ea"/>
                <a:cs typeface="+mn-cs"/>
              </a:rPr>
              <a:t>Prototype today → smart digital library tomorrow</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9326880" y="228600"/>
            <a:ext cx="2103120" cy="0"/>
          </a:xfrm>
          <a:prstGeom prst="line">
            <a:avLst/>
          </a:prstGeom>
          <a:noFill/>
          <a:ln w="15240">
            <a:solidFill>
              <a:srgbClr val="11D9F6">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594360" y="6355080"/>
            <a:ext cx="1828800" cy="0"/>
          </a:xfrm>
          <a:prstGeom prst="line">
            <a:avLst/>
          </a:prstGeom>
          <a:noFill/>
          <a:ln w="15240">
            <a:solidFill>
              <a:srgbClr val="8F63FF">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594360" y="347472"/>
            <a:ext cx="10881360" cy="502920"/>
          </a:xfrm>
          <a:prstGeom prst="rect">
            <a:avLst/>
          </a:prstGeom>
          <a:noFill/>
          <a:ln/>
        </p:spPr>
        <p:txBody>
          <a:bodyPr wrap="square"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dirty="0">
                <a:ln>
                  <a:noFill/>
                </a:ln>
                <a:solidFill>
                  <a:srgbClr val="F6F8FB"/>
                </a:solidFill>
                <a:effectLst/>
                <a:uLnTx/>
                <a:uFillTx/>
                <a:latin typeface="Aptos Display" pitchFamily="34" charset="0"/>
                <a:ea typeface="Aptos Display" pitchFamily="34" charset="-122"/>
                <a:cs typeface="Aptos Display" pitchFamily="34" charset="-120"/>
              </a:rPr>
              <a:t>Conclusion</a:t>
            </a:r>
            <a:endParaRPr kumimoji="0" lang="en-US" sz="31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Shape 5"/>
          <p:cNvSpPr/>
          <p:nvPr/>
        </p:nvSpPr>
        <p:spPr>
          <a:xfrm>
            <a:off x="621792" y="1024128"/>
            <a:ext cx="1234440" cy="0"/>
          </a:xfrm>
          <a:prstGeom prst="line">
            <a:avLst/>
          </a:prstGeom>
          <a:noFill/>
          <a:ln w="38100">
            <a:solidFill>
              <a:srgbClr val="11D9F6"/>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993392" y="914400"/>
            <a:ext cx="8961120" cy="292608"/>
          </a:xfrm>
          <a:prstGeom prst="rect">
            <a:avLst/>
          </a:prstGeom>
          <a:noFill/>
          <a:ln/>
        </p:spPr>
        <p:txBody>
          <a:bodyPr wrap="square"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B9C8D6"/>
                </a:solidFill>
                <a:effectLst/>
                <a:uLnTx/>
                <a:uFillTx/>
                <a:latin typeface="Aptos"/>
                <a:ea typeface="+mn-ea"/>
                <a:cs typeface="+mn-cs"/>
              </a:rPr>
              <a:t>Neo Library  combines practical C++ learning with futuristic system thinking</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Shape 7"/>
          <p:cNvSpPr/>
          <p:nvPr/>
        </p:nvSpPr>
        <p:spPr>
          <a:xfrm>
            <a:off x="1325880" y="1673352"/>
            <a:ext cx="118872" cy="118872"/>
          </a:xfrm>
          <a:prstGeom prst="ellipse">
            <a:avLst/>
          </a:prstGeom>
          <a:solidFill>
            <a:srgbClr val="11D9F6"/>
          </a:solidFill>
          <a:ln w="12700">
            <a:solidFill>
              <a:srgbClr val="11D9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0" name="Text 8"/>
          <p:cNvSpPr/>
          <p:nvPr/>
        </p:nvSpPr>
        <p:spPr>
          <a:xfrm>
            <a:off x="1554480" y="1600200"/>
            <a:ext cx="804672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Built a complete C++ Library Management System prototype.</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9"/>
          <p:cNvSpPr/>
          <p:nvPr/>
        </p:nvSpPr>
        <p:spPr>
          <a:xfrm>
            <a:off x="1325880" y="2221992"/>
            <a:ext cx="118872" cy="118872"/>
          </a:xfrm>
          <a:prstGeom prst="ellipse">
            <a:avLst/>
          </a:prstGeom>
          <a:solidFill>
            <a:srgbClr val="21E6A8"/>
          </a:solidFill>
          <a:ln w="12700">
            <a:solidFill>
              <a:srgbClr val="21E6A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1554480" y="2148840"/>
            <a:ext cx="822960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Used classes, constructors, vectors, file handling, and exceptions.</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1325880" y="2770632"/>
            <a:ext cx="118872" cy="118872"/>
          </a:xfrm>
          <a:prstGeom prst="ellipse">
            <a:avLst/>
          </a:prstGeom>
          <a:solidFill>
            <a:srgbClr val="FFC857"/>
          </a:solidFill>
          <a:ln w="12700">
            <a:solidFill>
              <a:srgbClr val="FFC85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1554480" y="2697480"/>
            <a:ext cx="822960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Added unique smart recommendation and analytics features.</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1325880" y="3319272"/>
            <a:ext cx="118872" cy="118872"/>
          </a:xfrm>
          <a:prstGeom prst="ellipse">
            <a:avLst/>
          </a:prstGeom>
          <a:solidFill>
            <a:srgbClr val="8F63FF"/>
          </a:solidFill>
          <a:ln w="12700">
            <a:solidFill>
              <a:srgbClr val="8F63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1554480" y="3246120"/>
            <a:ext cx="8229600" cy="310896"/>
          </a:xfrm>
          <a:prstGeom prst="rect">
            <a:avLst/>
          </a:prstGeom>
          <a:noFill/>
          <a:ln/>
        </p:spPr>
        <p:txBody>
          <a:bodyPr wrap="square"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6F8FB"/>
                </a:solidFill>
                <a:effectLst/>
                <a:uLnTx/>
                <a:uFillTx/>
                <a:latin typeface="Aptos"/>
                <a:ea typeface="+mn-ea"/>
                <a:cs typeface="+mn-cs"/>
              </a:rPr>
              <a:t>Designed the concept as a futuristic smart library platform.</a:t>
            </a:r>
            <a:endParaRPr kumimoji="0" lang="en-US" sz="145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2880360" y="4617720"/>
            <a:ext cx="64008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1D9F6"/>
                </a:solidFill>
                <a:effectLst/>
                <a:uLnTx/>
                <a:uFillTx/>
                <a:latin typeface="Aptos Display" pitchFamily="34" charset="0"/>
                <a:ea typeface="Aptos Display" pitchFamily="34" charset="-122"/>
                <a:cs typeface="Aptos Display" pitchFamily="34" charset="-120"/>
              </a:rPr>
              <a:t>Thank You</a:t>
            </a:r>
            <a:endParaRPr kumimoji="0" lang="en-US" sz="440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4892040" y="5349240"/>
            <a:ext cx="23774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6F8FB"/>
                </a:solidFill>
                <a:effectLst/>
                <a:uLnTx/>
                <a:uFillTx/>
                <a:latin typeface="Aptos"/>
                <a:ea typeface="+mn-ea"/>
                <a:cs typeface="+mn-cs"/>
              </a:rPr>
              <a:t>Questions?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2308</Words>
  <Application>Microsoft Office PowerPoint</Application>
  <PresentationFormat>Widescreen</PresentationFormat>
  <Paragraphs>329</Paragraphs>
  <Slides>19</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Aptos Display</vt:lpstr>
      <vt:lpstr>Arial</vt:lpstr>
      <vt:lpstr>Calibri</vt:lpstr>
      <vt:lpstr>Consolas</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Hossain Mohammad Zinnorigne</dc:creator>
  <cp:lastModifiedBy>Hossain Mohammad Zinnorigne</cp:lastModifiedBy>
  <cp:revision>11</cp:revision>
  <dcterms:created xsi:type="dcterms:W3CDTF">2026-07-22T12:43:07Z</dcterms:created>
  <dcterms:modified xsi:type="dcterms:W3CDTF">2026-07-23T00:55:22Z</dcterms:modified>
</cp:coreProperties>
</file>